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94" r:id="rId4"/>
    <p:sldId id="299" r:id="rId5"/>
    <p:sldId id="295" r:id="rId6"/>
    <p:sldId id="296" r:id="rId7"/>
    <p:sldId id="309" r:id="rId8"/>
    <p:sldId id="300" r:id="rId9"/>
    <p:sldId id="301" r:id="rId10"/>
    <p:sldId id="302" r:id="rId11"/>
    <p:sldId id="303" r:id="rId12"/>
    <p:sldId id="308" r:id="rId13"/>
    <p:sldId id="310" r:id="rId14"/>
    <p:sldId id="297" r:id="rId15"/>
    <p:sldId id="298" r:id="rId16"/>
    <p:sldId id="304" r:id="rId17"/>
    <p:sldId id="305" r:id="rId18"/>
    <p:sldId id="306" r:id="rId19"/>
    <p:sldId id="307" r:id="rId20"/>
    <p:sldId id="293" r:id="rId2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30" autoAdjust="0"/>
    <p:restoredTop sz="94660"/>
  </p:normalViewPr>
  <p:slideViewPr>
    <p:cSldViewPr snapToGrid="0">
      <p:cViewPr varScale="1">
        <p:scale>
          <a:sx n="96" d="100"/>
          <a:sy n="96" d="100"/>
        </p:scale>
        <p:origin x="133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2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3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4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60"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72"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8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8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8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8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8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9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10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sp>
        <p:nvSpPr>
          <p:cNvPr id="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pic>
        <p:nvPicPr>
          <p:cNvPr id="4" name="image.png" descr="image.png"/>
          <p:cNvPicPr>
            <a:picLocks noChangeAspect="1"/>
          </p:cNvPicPr>
          <p:nvPr/>
        </p:nvPicPr>
        <p:blipFill>
          <a:blip r:embed="rId12"/>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2" y="381000"/>
            <a:ext cx="301909" cy="288824"/>
          </a:xfrm>
          <a:prstGeom prst="rect">
            <a:avLst/>
          </a:prstGeom>
          <a:ln w="12700">
            <a:miter lim="400000"/>
          </a:ln>
        </p:spPr>
        <p:txBody>
          <a:bodyPr wrap="none" lIns="45719" rIns="45719">
            <a:spAutoFit/>
          </a:bodyPr>
          <a:lstStyle>
            <a:lvl1pPr algn="r">
              <a:defRPr>
                <a:latin typeface="+mn-lt"/>
                <a:ea typeface="+mn-ea"/>
                <a:cs typeface="+mn-cs"/>
                <a:sym typeface="Arial"/>
              </a:defRPr>
            </a:lvl1pPr>
          </a:lstStyle>
          <a:p>
            <a:fld id="{86CB4B4D-7CA3-9044-876B-883B54F8677D}" type="slidenum">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7" name="Body Level One…"/>
          <p:cNvSpPr txBox="1">
            <a:spLocks noGrp="1"/>
          </p:cNvSpPr>
          <p:nvPr>
            <p:ph type="body" idx="1"/>
          </p:nvPr>
        </p:nvSpPr>
        <p:spPr>
          <a:xfrm>
            <a:off x="457200" y="1600200"/>
            <a:ext cx="8229600" cy="4525963"/>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hf hdr="0" dt="0"/>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25400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6pPr>
      <a:lvl7pPr marL="29972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7pPr>
      <a:lvl8pPr marL="3454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8pPr>
      <a:lvl9pPr marL="3911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
        <p:nvSpPr>
          <p:cNvPr id="131" name="Z-SPA"/>
          <p:cNvSpPr txBox="1">
            <a:spLocks noGrp="1"/>
          </p:cNvSpPr>
          <p:nvPr>
            <p:ph type="title"/>
          </p:nvPr>
        </p:nvSpPr>
        <p:spPr>
          <a:xfrm>
            <a:off x="419877" y="1255756"/>
            <a:ext cx="8304245" cy="914400"/>
          </a:xfrm>
          <a:prstGeom prst="rect">
            <a:avLst/>
          </a:prstGeom>
        </p:spPr>
        <p:txBody>
          <a:bodyPr>
            <a:normAutofit fontScale="90000"/>
          </a:bodyPr>
          <a:lstStyle/>
          <a:p>
            <a:pPr>
              <a:defRPr sz="4000" b="1">
                <a:latin typeface="Times New Roman"/>
                <a:ea typeface="Times New Roman"/>
                <a:cs typeface="Times New Roman"/>
                <a:sym typeface="Times New Roman"/>
              </a:defRPr>
            </a:pPr>
            <a:r>
              <a:rPr lang="en-US" sz="3600" b="1" dirty="0"/>
              <a:t>Urban Waste Collection Optimization Using Path Finding Algorithms</a:t>
            </a:r>
            <a:endParaRPr sz="3600" b="1" dirty="0"/>
          </a:p>
        </p:txBody>
      </p:sp>
      <p:sp>
        <p:nvSpPr>
          <p:cNvPr id="13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19CSE314 – Software Engineering</a:t>
            </a:r>
            <a:endParaRPr dirty="0"/>
          </a:p>
        </p:txBody>
      </p:sp>
      <p:grpSp>
        <p:nvGrpSpPr>
          <p:cNvPr id="135" name="Group"/>
          <p:cNvGrpSpPr/>
          <p:nvPr/>
        </p:nvGrpSpPr>
        <p:grpSpPr>
          <a:xfrm>
            <a:off x="1053548" y="2480807"/>
            <a:ext cx="7455541" cy="3254071"/>
            <a:chOff x="0" y="0"/>
            <a:chExt cx="8097814" cy="3788886"/>
          </a:xfrm>
        </p:grpSpPr>
        <p:sp>
          <p:nvSpPr>
            <p:cNvPr id="133" name="Rectangle"/>
            <p:cNvSpPr/>
            <p:nvPr/>
          </p:nvSpPr>
          <p:spPr>
            <a:xfrm>
              <a:off x="0" y="0"/>
              <a:ext cx="8097814" cy="3788886"/>
            </a:xfrm>
            <a:prstGeom prst="rect">
              <a:avLst/>
            </a:prstGeom>
            <a:solidFill>
              <a:srgbClr val="FFFFFF"/>
            </a:solidFill>
            <a:ln w="12700" cap="flat">
              <a:noFill/>
              <a:miter lim="400000"/>
            </a:ln>
            <a:effectLst/>
          </p:spPr>
          <p:txBody>
            <a:bodyPr wrap="square" lIns="45719" tIns="45719" rIns="45719" bIns="45719" numCol="1" anchor="t">
              <a:noAutofit/>
            </a:bodyPr>
            <a:lstStyle/>
            <a:p>
              <a:pPr algn="ctr">
                <a:lnSpc>
                  <a:spcPct val="80000"/>
                </a:lnSpc>
                <a:spcBef>
                  <a:spcPts val="400"/>
                </a:spcBef>
                <a:defRPr sz="2000" b="1">
                  <a:latin typeface="+mn-lt"/>
                  <a:ea typeface="+mn-ea"/>
                  <a:cs typeface="+mn-cs"/>
                  <a:sym typeface="Arial"/>
                </a:defRPr>
              </a:pPr>
              <a:endParaRPr/>
            </a:p>
          </p:txBody>
        </p:sp>
        <p:sp>
          <p:nvSpPr>
            <p:cNvPr id="134" name="Team Members     Group No: 13…"/>
            <p:cNvSpPr txBox="1"/>
            <p:nvPr/>
          </p:nvSpPr>
          <p:spPr>
            <a:xfrm>
              <a:off x="44575" y="344557"/>
              <a:ext cx="8008664" cy="319898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noAutofit/>
            </a:bodyPr>
            <a:lstStyle/>
            <a:p>
              <a:pPr>
                <a:lnSpc>
                  <a:spcPct val="80000"/>
                </a:lnSpc>
                <a:spcBef>
                  <a:spcPts val="400"/>
                </a:spcBef>
                <a:defRPr sz="2000" b="1">
                  <a:latin typeface="+mn-lt"/>
                  <a:ea typeface="+mn-ea"/>
                  <a:cs typeface="+mn-cs"/>
                  <a:sym typeface="Arial"/>
                </a:defRPr>
              </a:pPr>
              <a:r>
                <a:rPr lang="en-US" dirty="0"/>
                <a:t>Team Number: 09</a:t>
              </a:r>
              <a:r>
                <a:rPr b="0" dirty="0"/>
                <a:t>		</a:t>
              </a:r>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p:txBody>
        </p:sp>
      </p:grpSp>
      <p:graphicFrame>
        <p:nvGraphicFramePr>
          <p:cNvPr id="5" name="Table 4">
            <a:extLst>
              <a:ext uri="{FF2B5EF4-FFF2-40B4-BE49-F238E27FC236}">
                <a16:creationId xmlns:a16="http://schemas.microsoft.com/office/drawing/2014/main" id="{8B3DF69A-5FC0-4AA0-DC5A-CEE042EADF23}"/>
              </a:ext>
            </a:extLst>
          </p:cNvPr>
          <p:cNvGraphicFramePr>
            <a:graphicFrameLocks noGrp="1"/>
          </p:cNvGraphicFramePr>
          <p:nvPr>
            <p:extLst>
              <p:ext uri="{D42A27DB-BD31-4B8C-83A1-F6EECF244321}">
                <p14:modId xmlns:p14="http://schemas.microsoft.com/office/powerpoint/2010/main" val="1309411084"/>
              </p:ext>
            </p:extLst>
          </p:nvPr>
        </p:nvGraphicFramePr>
        <p:xfrm>
          <a:off x="1430693" y="3429000"/>
          <a:ext cx="6096000" cy="148336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1053165615"/>
                    </a:ext>
                  </a:extLst>
                </a:gridCol>
                <a:gridCol w="3048000">
                  <a:extLst>
                    <a:ext uri="{9D8B030D-6E8A-4147-A177-3AD203B41FA5}">
                      <a16:colId xmlns:a16="http://schemas.microsoft.com/office/drawing/2014/main" val="1889290964"/>
                    </a:ext>
                  </a:extLst>
                </a:gridCol>
              </a:tblGrid>
              <a:tr h="370840">
                <a:tc>
                  <a:txBody>
                    <a:bodyPr/>
                    <a:lstStyle/>
                    <a:p>
                      <a:pPr algn="ctr"/>
                      <a:r>
                        <a:rPr lang="en-IN" sz="1400" b="1" dirty="0" err="1"/>
                        <a:t>Reg.No</a:t>
                      </a:r>
                      <a:endParaRPr lang="en-IN" sz="1400" b="1" dirty="0"/>
                    </a:p>
                  </a:txBody>
                  <a:tcPr/>
                </a:tc>
                <a:tc>
                  <a:txBody>
                    <a:bodyPr/>
                    <a:lstStyle/>
                    <a:p>
                      <a:pPr algn="ctr"/>
                      <a:r>
                        <a:rPr lang="en-IN" sz="1400" b="1" dirty="0"/>
                        <a:t>Name of the Student</a:t>
                      </a:r>
                    </a:p>
                  </a:txBody>
                  <a:tcPr/>
                </a:tc>
                <a:extLst>
                  <a:ext uri="{0D108BD9-81ED-4DB2-BD59-A6C34878D82A}">
                    <a16:rowId xmlns:a16="http://schemas.microsoft.com/office/drawing/2014/main" val="571241409"/>
                  </a:ext>
                </a:extLst>
              </a:tr>
              <a:tr h="370840">
                <a:tc>
                  <a:txBody>
                    <a:bodyPr/>
                    <a:lstStyle/>
                    <a:p>
                      <a:pPr algn="ctr"/>
                      <a:r>
                        <a:rPr lang="en-IN" sz="1400" dirty="0"/>
                        <a:t>BL.EN.U4CSE22220</a:t>
                      </a:r>
                    </a:p>
                  </a:txBody>
                  <a:tcPr/>
                </a:tc>
                <a:tc>
                  <a:txBody>
                    <a:bodyPr/>
                    <a:lstStyle/>
                    <a:p>
                      <a:pPr algn="ctr"/>
                      <a:r>
                        <a:rPr lang="en-IN" sz="1400" dirty="0"/>
                        <a:t>D. Abhiram</a:t>
                      </a:r>
                    </a:p>
                  </a:txBody>
                  <a:tcPr/>
                </a:tc>
                <a:extLst>
                  <a:ext uri="{0D108BD9-81ED-4DB2-BD59-A6C34878D82A}">
                    <a16:rowId xmlns:a16="http://schemas.microsoft.com/office/drawing/2014/main" val="1103358573"/>
                  </a:ext>
                </a:extLst>
              </a:tr>
              <a:tr h="370840">
                <a:tc>
                  <a:txBody>
                    <a:bodyPr/>
                    <a:lstStyle/>
                    <a:p>
                      <a:pPr algn="ctr"/>
                      <a:r>
                        <a:rPr lang="en-IN" sz="1400" dirty="0"/>
                        <a:t>BL.EN.U4CSE22231</a:t>
                      </a:r>
                    </a:p>
                  </a:txBody>
                  <a:tcPr/>
                </a:tc>
                <a:tc>
                  <a:txBody>
                    <a:bodyPr/>
                    <a:lstStyle/>
                    <a:p>
                      <a:pPr algn="ctr"/>
                      <a:r>
                        <a:rPr lang="en-IN" sz="1400" dirty="0"/>
                        <a:t>K. Dhanush Reddy</a:t>
                      </a:r>
                    </a:p>
                  </a:txBody>
                  <a:tcPr/>
                </a:tc>
                <a:extLst>
                  <a:ext uri="{0D108BD9-81ED-4DB2-BD59-A6C34878D82A}">
                    <a16:rowId xmlns:a16="http://schemas.microsoft.com/office/drawing/2014/main" val="4145548304"/>
                  </a:ext>
                </a:extLst>
              </a:tr>
              <a:tr h="370840">
                <a:tc>
                  <a:txBody>
                    <a:bodyPr/>
                    <a:lstStyle/>
                    <a:p>
                      <a:pPr algn="ctr"/>
                      <a:r>
                        <a:rPr lang="en-IN" sz="1400" dirty="0"/>
                        <a:t>BL.EN.U4CSE22243</a:t>
                      </a:r>
                    </a:p>
                  </a:txBody>
                  <a:tcPr/>
                </a:tc>
                <a:tc>
                  <a:txBody>
                    <a:bodyPr/>
                    <a:lstStyle/>
                    <a:p>
                      <a:pPr algn="ctr"/>
                      <a:r>
                        <a:rPr lang="en-IN" sz="1400" dirty="0"/>
                        <a:t>P. Koushik Reddy</a:t>
                      </a:r>
                    </a:p>
                  </a:txBody>
                  <a:tcPr/>
                </a:tc>
                <a:extLst>
                  <a:ext uri="{0D108BD9-81ED-4DB2-BD59-A6C34878D82A}">
                    <a16:rowId xmlns:a16="http://schemas.microsoft.com/office/drawing/2014/main" val="3149362784"/>
                  </a:ext>
                </a:extLst>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
        <p:nvSpPr>
          <p:cNvPr id="141" name="Content"/>
          <p:cNvSpPr txBox="1">
            <a:spLocks noGrp="1"/>
          </p:cNvSpPr>
          <p:nvPr>
            <p:ph type="title"/>
          </p:nvPr>
        </p:nvSpPr>
        <p:spPr>
          <a:xfrm>
            <a:off x="609600" y="-1"/>
            <a:ext cx="7772400" cy="1175657"/>
          </a:xfrm>
          <a:prstGeom prst="rect">
            <a:avLst/>
          </a:prstGeom>
        </p:spPr>
        <p:txBody>
          <a:bodyPr>
            <a:normAutofit/>
          </a:bodyPr>
          <a:lstStyle>
            <a:lvl1pPr>
              <a:defRPr sz="3200">
                <a:latin typeface="Times New Roman"/>
                <a:ea typeface="Times New Roman"/>
                <a:cs typeface="Times New Roman"/>
                <a:sym typeface="Times New Roman"/>
              </a:defRPr>
            </a:lvl1pPr>
          </a:lstStyle>
          <a:p>
            <a:r>
              <a:rPr lang="en-IN" dirty="0">
                <a:latin typeface="Times New Roman" panose="02020603050405020304" pitchFamily="18" charset="0"/>
                <a:ea typeface="+mn-ea"/>
                <a:cs typeface="Times New Roman" panose="02020603050405020304" pitchFamily="18" charset="0"/>
                <a:sym typeface="Arial"/>
              </a:rPr>
              <a:t>INTRODUCTION</a:t>
            </a:r>
            <a:endParaRPr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IN" dirty="0"/>
              <a:t>INTRODUCTION</a:t>
            </a:r>
            <a:endParaRPr dirty="0"/>
          </a:p>
        </p:txBody>
      </p:sp>
      <p:sp>
        <p:nvSpPr>
          <p:cNvPr id="144" name="Introduction…"/>
          <p:cNvSpPr/>
          <p:nvPr/>
        </p:nvSpPr>
        <p:spPr>
          <a:xfrm>
            <a:off x="726615" y="1997840"/>
            <a:ext cx="7680961" cy="341631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just"/>
            <a:r>
              <a:rPr lang="en-US" sz="1800" dirty="0"/>
              <a:t>In rapidly urbanizing cities, effective waste collection has become a growing challenge due to increasing population density, traffic congestion, and fluctuating waste generation levels. Traditional waste management systems often follow rigid schedules and fixed routes, leading to inefficiencies in fuel usage, service time, and environmental </a:t>
            </a:r>
            <a:r>
              <a:rPr lang="en-US" sz="1800" dirty="0" err="1"/>
              <a:t>impact.This</a:t>
            </a:r>
            <a:r>
              <a:rPr lang="en-US" sz="1800" dirty="0"/>
              <a:t> project focuses on optimizing waste collection routes in Bengaluru using intelligent pathfinding algorithms such as Dijkstra’s, Bellman-Ford, Floyd-Warshall, Johnson’s, Nearest Neighbor, and Ant Colony Optimization (ACO).By integrating geospatial data, vehicle constraints, and route optimization techniques, the system aims to minimize travel time, reduce carbon emissions, and ensure timely collection from prioritized locations. The solution contributes towards building smarter, cleaner, and more sustainable urban environments.</a:t>
            </a:r>
            <a:endParaRPr lang="en-IN" sz="1800" dirty="0">
              <a:solidFill>
                <a:schemeClr val="tx1"/>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0E97B-631E-CEA9-0274-59B5FCD2F3A0}"/>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8606488C-0662-C716-FD83-23B24FCBC1FA}"/>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
        <p:nvSpPr>
          <p:cNvPr id="141" name="Content">
            <a:extLst>
              <a:ext uri="{FF2B5EF4-FFF2-40B4-BE49-F238E27FC236}">
                <a16:creationId xmlns:a16="http://schemas.microsoft.com/office/drawing/2014/main" id="{59FFD25A-722E-6B9A-0A16-2F221A2AD23D}"/>
              </a:ext>
            </a:extLst>
          </p:cNvPr>
          <p:cNvSpPr txBox="1">
            <a:spLocks noGrp="1"/>
          </p:cNvSpPr>
          <p:nvPr>
            <p:ph type="title"/>
          </p:nvPr>
        </p:nvSpPr>
        <p:spPr>
          <a:xfrm>
            <a:off x="609600" y="1371600"/>
            <a:ext cx="7772400" cy="4462670"/>
          </a:xfrm>
          <a:prstGeom prst="rect">
            <a:avLst/>
          </a:prstGeom>
        </p:spPr>
        <p:txBody>
          <a:bodyPr>
            <a:normAutofit/>
          </a:bodyPr>
          <a:lstStyle>
            <a:lvl1pPr>
              <a:defRPr sz="3200">
                <a:latin typeface="Times New Roman"/>
                <a:ea typeface="Times New Roman"/>
                <a:cs typeface="Times New Roman"/>
                <a:sym typeface="Times New Roman"/>
              </a:defRPr>
            </a:lvl1pPr>
          </a:lstStyle>
          <a:p>
            <a:pPr algn="l"/>
            <a:br>
              <a:rPr lang="en-IN" dirty="0">
                <a:latin typeface="Times New Roman" panose="02020603050405020304" pitchFamily="18" charset="0"/>
                <a:ea typeface="+mn-ea"/>
                <a:cs typeface="Times New Roman" panose="02020603050405020304" pitchFamily="18" charset="0"/>
                <a:sym typeface="Arial"/>
              </a:rPr>
            </a:br>
            <a:br>
              <a:rPr lang="en-IN" dirty="0">
                <a:latin typeface="Times New Roman" panose="02020603050405020304" pitchFamily="18" charset="0"/>
                <a:ea typeface="+mn-ea"/>
                <a:cs typeface="Times New Roman" panose="02020603050405020304" pitchFamily="18" charset="0"/>
                <a:sym typeface="Arial"/>
              </a:rPr>
            </a:br>
            <a:br>
              <a:rPr lang="en-IN" dirty="0">
                <a:latin typeface="Times New Roman" panose="02020603050405020304" pitchFamily="18" charset="0"/>
                <a:ea typeface="+mn-ea"/>
                <a:cs typeface="Times New Roman" panose="02020603050405020304" pitchFamily="18" charset="0"/>
                <a:sym typeface="Arial"/>
              </a:rPr>
            </a:br>
            <a:endParaRPr dirty="0"/>
          </a:p>
        </p:txBody>
      </p:sp>
      <p:sp>
        <p:nvSpPr>
          <p:cNvPr id="142" name="Rectangle">
            <a:extLst>
              <a:ext uri="{FF2B5EF4-FFF2-40B4-BE49-F238E27FC236}">
                <a16:creationId xmlns:a16="http://schemas.microsoft.com/office/drawing/2014/main" id="{383EA555-EBD3-712F-D355-CC74CA255D86}"/>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LITERATURE SURVEY</a:t>
            </a:r>
            <a:endParaRPr dirty="0"/>
          </a:p>
        </p:txBody>
      </p:sp>
      <p:graphicFrame>
        <p:nvGraphicFramePr>
          <p:cNvPr id="2" name="Table 1">
            <a:extLst>
              <a:ext uri="{FF2B5EF4-FFF2-40B4-BE49-F238E27FC236}">
                <a16:creationId xmlns:a16="http://schemas.microsoft.com/office/drawing/2014/main" id="{490E8395-E383-875F-2B4B-9EA6B1660BAA}"/>
              </a:ext>
            </a:extLst>
          </p:cNvPr>
          <p:cNvGraphicFramePr>
            <a:graphicFrameLocks noGrp="1"/>
          </p:cNvGraphicFramePr>
          <p:nvPr>
            <p:extLst>
              <p:ext uri="{D42A27DB-BD31-4B8C-83A1-F6EECF244321}">
                <p14:modId xmlns:p14="http://schemas.microsoft.com/office/powerpoint/2010/main" val="4142460648"/>
              </p:ext>
            </p:extLst>
          </p:nvPr>
        </p:nvGraphicFramePr>
        <p:xfrm>
          <a:off x="762000" y="1706181"/>
          <a:ext cx="7645575" cy="3732580"/>
        </p:xfrm>
        <a:graphic>
          <a:graphicData uri="http://schemas.openxmlformats.org/drawingml/2006/table">
            <a:tbl>
              <a:tblPr firstRow="1" bandRow="1">
                <a:tableStyleId>{5940675A-B579-460E-94D1-54222C63F5DA}</a:tableStyleId>
              </a:tblPr>
              <a:tblGrid>
                <a:gridCol w="618931">
                  <a:extLst>
                    <a:ext uri="{9D8B030D-6E8A-4147-A177-3AD203B41FA5}">
                      <a16:colId xmlns:a16="http://schemas.microsoft.com/office/drawing/2014/main" val="4128782916"/>
                    </a:ext>
                  </a:extLst>
                </a:gridCol>
                <a:gridCol w="2136710">
                  <a:extLst>
                    <a:ext uri="{9D8B030D-6E8A-4147-A177-3AD203B41FA5}">
                      <a16:colId xmlns:a16="http://schemas.microsoft.com/office/drawing/2014/main" val="1078373577"/>
                    </a:ext>
                  </a:extLst>
                </a:gridCol>
                <a:gridCol w="1521800">
                  <a:extLst>
                    <a:ext uri="{9D8B030D-6E8A-4147-A177-3AD203B41FA5}">
                      <a16:colId xmlns:a16="http://schemas.microsoft.com/office/drawing/2014/main" val="447216067"/>
                    </a:ext>
                  </a:extLst>
                </a:gridCol>
                <a:gridCol w="1684067">
                  <a:extLst>
                    <a:ext uri="{9D8B030D-6E8A-4147-A177-3AD203B41FA5}">
                      <a16:colId xmlns:a16="http://schemas.microsoft.com/office/drawing/2014/main" val="1313916525"/>
                    </a:ext>
                  </a:extLst>
                </a:gridCol>
                <a:gridCol w="1684067">
                  <a:extLst>
                    <a:ext uri="{9D8B030D-6E8A-4147-A177-3AD203B41FA5}">
                      <a16:colId xmlns:a16="http://schemas.microsoft.com/office/drawing/2014/main" val="3710776008"/>
                    </a:ext>
                  </a:extLst>
                </a:gridCol>
              </a:tblGrid>
              <a:tr h="410227">
                <a:tc>
                  <a:txBody>
                    <a:bodyPr/>
                    <a:lstStyle/>
                    <a:p>
                      <a:pPr algn="ctr"/>
                      <a:r>
                        <a:rPr lang="en-IN" b="1" dirty="0" err="1"/>
                        <a:t>S.No</a:t>
                      </a:r>
                      <a:endParaRPr lang="en-IN" b="1" dirty="0"/>
                    </a:p>
                  </a:txBody>
                  <a:tcPr/>
                </a:tc>
                <a:tc>
                  <a:txBody>
                    <a:bodyPr/>
                    <a:lstStyle/>
                    <a:p>
                      <a:pPr algn="ctr"/>
                      <a:r>
                        <a:rPr lang="en-IN" b="1" dirty="0"/>
                        <a:t>Title of the Paper</a:t>
                      </a:r>
                    </a:p>
                  </a:txBody>
                  <a:tcPr/>
                </a:tc>
                <a:tc>
                  <a:txBody>
                    <a:bodyPr/>
                    <a:lstStyle/>
                    <a:p>
                      <a:pPr algn="ctr"/>
                      <a:r>
                        <a:rPr lang="en-IN" b="1" dirty="0"/>
                        <a:t>Author</a:t>
                      </a:r>
                    </a:p>
                  </a:txBody>
                  <a:tcPr/>
                </a:tc>
                <a:tc>
                  <a:txBody>
                    <a:bodyPr/>
                    <a:lstStyle/>
                    <a:p>
                      <a:pPr algn="ctr"/>
                      <a:r>
                        <a:rPr lang="en-IN" b="1" dirty="0"/>
                        <a:t>Inference</a:t>
                      </a:r>
                    </a:p>
                  </a:txBody>
                  <a:tcPr/>
                </a:tc>
                <a:tc>
                  <a:txBody>
                    <a:bodyPr/>
                    <a:lstStyle/>
                    <a:p>
                      <a:pPr algn="ctr"/>
                      <a:r>
                        <a:rPr lang="en-IN" b="1" dirty="0"/>
                        <a:t>Research Gaps</a:t>
                      </a:r>
                    </a:p>
                  </a:txBody>
                  <a:tcPr/>
                </a:tc>
                <a:extLst>
                  <a:ext uri="{0D108BD9-81ED-4DB2-BD59-A6C34878D82A}">
                    <a16:rowId xmlns:a16="http://schemas.microsoft.com/office/drawing/2014/main" val="2785192104"/>
                  </a:ext>
                </a:extLst>
              </a:tr>
              <a:tr h="1737393">
                <a:tc>
                  <a:txBody>
                    <a:bodyPr/>
                    <a:lstStyle/>
                    <a:p>
                      <a:r>
                        <a:rPr lang="en-IN" dirty="0"/>
                        <a:t>1.</a:t>
                      </a:r>
                    </a:p>
                  </a:txBody>
                  <a:tcPr/>
                </a:tc>
                <a:tc>
                  <a:txBody>
                    <a:bodyPr/>
                    <a:lstStyle/>
                    <a:p>
                      <a:pPr algn="just"/>
                      <a:r>
                        <a:rPr lang="en-US" dirty="0"/>
                        <a:t>Optimization of Green Vehicle Paths Considering the Impact of Carbon Emissions</a:t>
                      </a:r>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t>Li, Tingting et al. (2023)</a:t>
                      </a:r>
                    </a:p>
                  </a:txBody>
                  <a:tcPr/>
                </a:tc>
                <a:tc>
                  <a:txBody>
                    <a:bodyPr/>
                    <a:lstStyle/>
                    <a:p>
                      <a:r>
                        <a:rPr lang="en-US" dirty="0"/>
                        <a:t>Optimized MSW collection routes considering fuel usage and CO₂ emissions</a:t>
                      </a:r>
                      <a:endParaRPr lang="en-IN" dirty="0"/>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Lack of real-time adaptation to traffic and waste volume fluctuations</a:t>
                      </a:r>
                      <a:endParaRPr lang="en-IN" dirty="0"/>
                    </a:p>
                  </a:txBody>
                  <a:tcPr/>
                </a:tc>
                <a:extLst>
                  <a:ext uri="{0D108BD9-81ED-4DB2-BD59-A6C34878D82A}">
                    <a16:rowId xmlns:a16="http://schemas.microsoft.com/office/drawing/2014/main" val="2743375834"/>
                  </a:ext>
                </a:extLst>
              </a:tr>
              <a:tr h="1453928">
                <a:tc>
                  <a:txBody>
                    <a:bodyPr/>
                    <a:lstStyle/>
                    <a:p>
                      <a:r>
                        <a:rPr lang="en-IN" dirty="0"/>
                        <a:t>2.</a:t>
                      </a:r>
                    </a:p>
                  </a:txBody>
                  <a:tcPr/>
                </a:tc>
                <a:tc>
                  <a:txBody>
                    <a:bodyPr/>
                    <a:lstStyle/>
                    <a:p>
                      <a:r>
                        <a:rPr lang="en-US" dirty="0"/>
                        <a:t>Waste Collection </a:t>
                      </a:r>
                      <a:r>
                        <a:rPr lang="en-US" dirty="0" err="1"/>
                        <a:t>Optimisation</a:t>
                      </a:r>
                      <a:r>
                        <a:rPr lang="en-US" dirty="0"/>
                        <a:t>: A Path to a Green and Sustainable City of Makkah</a:t>
                      </a:r>
                      <a:endParaRPr lang="en-IN" dirty="0"/>
                    </a:p>
                  </a:txBody>
                  <a:tcPr anchor="ctr"/>
                </a:tc>
                <a:tc>
                  <a:txBody>
                    <a:bodyPr/>
                    <a:lstStyle/>
                    <a:p>
                      <a:pPr algn="just"/>
                      <a:r>
                        <a:rPr lang="en-IN" dirty="0"/>
                        <a:t>John Holman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A structured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career guidance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framework improves student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employability and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decision-making.</a:t>
                      </a:r>
                    </a:p>
                    <a:p>
                      <a:pPr algn="just"/>
                      <a:endParaRPr lang="en-IN"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More studies are needed on how career guidance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can be adapted to emerging digital</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careers. </a:t>
                      </a:r>
                    </a:p>
                    <a:p>
                      <a:pPr algn="just"/>
                      <a:endParaRPr lang="en-IN" dirty="0"/>
                    </a:p>
                  </a:txBody>
                  <a:tcPr/>
                </a:tc>
                <a:extLst>
                  <a:ext uri="{0D108BD9-81ED-4DB2-BD59-A6C34878D82A}">
                    <a16:rowId xmlns:a16="http://schemas.microsoft.com/office/drawing/2014/main" val="4214405624"/>
                  </a:ext>
                </a:extLst>
              </a:tr>
            </a:tbl>
          </a:graphicData>
        </a:graphic>
      </p:graphicFrame>
    </p:spTree>
    <p:extLst>
      <p:ext uri="{BB962C8B-B14F-4D97-AF65-F5344CB8AC3E}">
        <p14:creationId xmlns:p14="http://schemas.microsoft.com/office/powerpoint/2010/main" val="24987799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7F0DE-3CD6-0205-9410-0F98B7300564}"/>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23E9FE77-8AD5-7E17-C5F0-4BEA2AEDE347}"/>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41" name="Content">
            <a:extLst>
              <a:ext uri="{FF2B5EF4-FFF2-40B4-BE49-F238E27FC236}">
                <a16:creationId xmlns:a16="http://schemas.microsoft.com/office/drawing/2014/main" id="{BBD270E7-2CC0-5AAE-6FF4-8DB7E9BFD3BE}"/>
              </a:ext>
            </a:extLst>
          </p:cNvPr>
          <p:cNvSpPr txBox="1">
            <a:spLocks noGrp="1"/>
          </p:cNvSpPr>
          <p:nvPr>
            <p:ph type="title"/>
          </p:nvPr>
        </p:nvSpPr>
        <p:spPr>
          <a:xfrm>
            <a:off x="609600" y="1371600"/>
            <a:ext cx="7772400" cy="4462670"/>
          </a:xfrm>
          <a:prstGeom prst="rect">
            <a:avLst/>
          </a:prstGeom>
        </p:spPr>
        <p:txBody>
          <a:bodyPr>
            <a:normAutofit/>
          </a:bodyPr>
          <a:lstStyle>
            <a:lvl1pPr>
              <a:defRPr sz="3200">
                <a:latin typeface="Times New Roman"/>
                <a:ea typeface="Times New Roman"/>
                <a:cs typeface="Times New Roman"/>
                <a:sym typeface="Times New Roman"/>
              </a:defRPr>
            </a:lvl1pPr>
          </a:lstStyle>
          <a:p>
            <a:pPr algn="l"/>
            <a:br>
              <a:rPr lang="en-IN" dirty="0">
                <a:latin typeface="Times New Roman" panose="02020603050405020304" pitchFamily="18" charset="0"/>
                <a:ea typeface="+mn-ea"/>
                <a:cs typeface="Times New Roman" panose="02020603050405020304" pitchFamily="18" charset="0"/>
                <a:sym typeface="Arial"/>
              </a:rPr>
            </a:br>
            <a:br>
              <a:rPr lang="en-IN" dirty="0">
                <a:latin typeface="Times New Roman" panose="02020603050405020304" pitchFamily="18" charset="0"/>
                <a:ea typeface="+mn-ea"/>
                <a:cs typeface="Times New Roman" panose="02020603050405020304" pitchFamily="18" charset="0"/>
                <a:sym typeface="Arial"/>
              </a:rPr>
            </a:br>
            <a:br>
              <a:rPr lang="en-IN" dirty="0">
                <a:latin typeface="Times New Roman" panose="02020603050405020304" pitchFamily="18" charset="0"/>
                <a:ea typeface="+mn-ea"/>
                <a:cs typeface="Times New Roman" panose="02020603050405020304" pitchFamily="18" charset="0"/>
                <a:sym typeface="Arial"/>
              </a:rPr>
            </a:br>
            <a:endParaRPr dirty="0"/>
          </a:p>
        </p:txBody>
      </p:sp>
      <p:sp>
        <p:nvSpPr>
          <p:cNvPr id="142" name="Rectangle">
            <a:extLst>
              <a:ext uri="{FF2B5EF4-FFF2-40B4-BE49-F238E27FC236}">
                <a16:creationId xmlns:a16="http://schemas.microsoft.com/office/drawing/2014/main" id="{59856282-8686-0035-7629-8435EC848C20}"/>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LITERATURE SURVEY</a:t>
            </a:r>
            <a:endParaRPr dirty="0"/>
          </a:p>
        </p:txBody>
      </p:sp>
      <p:graphicFrame>
        <p:nvGraphicFramePr>
          <p:cNvPr id="2" name="Table 1">
            <a:extLst>
              <a:ext uri="{FF2B5EF4-FFF2-40B4-BE49-F238E27FC236}">
                <a16:creationId xmlns:a16="http://schemas.microsoft.com/office/drawing/2014/main" id="{2B8E9739-952A-2E72-02CE-02C8C5FC31E5}"/>
              </a:ext>
            </a:extLst>
          </p:cNvPr>
          <p:cNvGraphicFramePr>
            <a:graphicFrameLocks noGrp="1"/>
          </p:cNvGraphicFramePr>
          <p:nvPr>
            <p:extLst>
              <p:ext uri="{D42A27DB-BD31-4B8C-83A1-F6EECF244321}">
                <p14:modId xmlns:p14="http://schemas.microsoft.com/office/powerpoint/2010/main" val="3540396480"/>
              </p:ext>
            </p:extLst>
          </p:nvPr>
        </p:nvGraphicFramePr>
        <p:xfrm>
          <a:off x="762000" y="1706181"/>
          <a:ext cx="7645575" cy="3612520"/>
        </p:xfrm>
        <a:graphic>
          <a:graphicData uri="http://schemas.openxmlformats.org/drawingml/2006/table">
            <a:tbl>
              <a:tblPr firstRow="1" bandRow="1">
                <a:tableStyleId>{5940675A-B579-460E-94D1-54222C63F5DA}</a:tableStyleId>
              </a:tblPr>
              <a:tblGrid>
                <a:gridCol w="618931">
                  <a:extLst>
                    <a:ext uri="{9D8B030D-6E8A-4147-A177-3AD203B41FA5}">
                      <a16:colId xmlns:a16="http://schemas.microsoft.com/office/drawing/2014/main" val="4128782916"/>
                    </a:ext>
                  </a:extLst>
                </a:gridCol>
                <a:gridCol w="2136710">
                  <a:extLst>
                    <a:ext uri="{9D8B030D-6E8A-4147-A177-3AD203B41FA5}">
                      <a16:colId xmlns:a16="http://schemas.microsoft.com/office/drawing/2014/main" val="1078373577"/>
                    </a:ext>
                  </a:extLst>
                </a:gridCol>
                <a:gridCol w="1520890">
                  <a:extLst>
                    <a:ext uri="{9D8B030D-6E8A-4147-A177-3AD203B41FA5}">
                      <a16:colId xmlns:a16="http://schemas.microsoft.com/office/drawing/2014/main" val="447216067"/>
                    </a:ext>
                  </a:extLst>
                </a:gridCol>
                <a:gridCol w="1684977">
                  <a:extLst>
                    <a:ext uri="{9D8B030D-6E8A-4147-A177-3AD203B41FA5}">
                      <a16:colId xmlns:a16="http://schemas.microsoft.com/office/drawing/2014/main" val="1313916525"/>
                    </a:ext>
                  </a:extLst>
                </a:gridCol>
                <a:gridCol w="1684067">
                  <a:extLst>
                    <a:ext uri="{9D8B030D-6E8A-4147-A177-3AD203B41FA5}">
                      <a16:colId xmlns:a16="http://schemas.microsoft.com/office/drawing/2014/main" val="3710776008"/>
                    </a:ext>
                  </a:extLst>
                </a:gridCol>
              </a:tblGrid>
              <a:tr h="421199">
                <a:tc>
                  <a:txBody>
                    <a:bodyPr/>
                    <a:lstStyle/>
                    <a:p>
                      <a:pPr algn="ctr"/>
                      <a:r>
                        <a:rPr lang="en-IN" b="1" dirty="0" err="1"/>
                        <a:t>S.No</a:t>
                      </a:r>
                      <a:endParaRPr lang="en-IN" b="1" dirty="0"/>
                    </a:p>
                  </a:txBody>
                  <a:tcPr/>
                </a:tc>
                <a:tc>
                  <a:txBody>
                    <a:bodyPr/>
                    <a:lstStyle/>
                    <a:p>
                      <a:pPr algn="ctr"/>
                      <a:r>
                        <a:rPr lang="en-IN" b="1" dirty="0"/>
                        <a:t>Title of the Paper</a:t>
                      </a:r>
                    </a:p>
                  </a:txBody>
                  <a:tcPr/>
                </a:tc>
                <a:tc>
                  <a:txBody>
                    <a:bodyPr/>
                    <a:lstStyle/>
                    <a:p>
                      <a:pPr algn="ctr"/>
                      <a:r>
                        <a:rPr lang="en-IN" b="1" dirty="0"/>
                        <a:t>Author</a:t>
                      </a:r>
                    </a:p>
                  </a:txBody>
                  <a:tcPr/>
                </a:tc>
                <a:tc>
                  <a:txBody>
                    <a:bodyPr/>
                    <a:lstStyle/>
                    <a:p>
                      <a:pPr algn="ctr"/>
                      <a:r>
                        <a:rPr lang="en-IN" b="1" dirty="0"/>
                        <a:t>Inference</a:t>
                      </a:r>
                    </a:p>
                  </a:txBody>
                  <a:tcPr/>
                </a:tc>
                <a:tc>
                  <a:txBody>
                    <a:bodyPr/>
                    <a:lstStyle/>
                    <a:p>
                      <a:pPr algn="ctr"/>
                      <a:r>
                        <a:rPr lang="en-IN" b="1" dirty="0"/>
                        <a:t>Research Gaps</a:t>
                      </a:r>
                    </a:p>
                  </a:txBody>
                  <a:tcPr/>
                </a:tc>
                <a:extLst>
                  <a:ext uri="{0D108BD9-81ED-4DB2-BD59-A6C34878D82A}">
                    <a16:rowId xmlns:a16="http://schemas.microsoft.com/office/drawing/2014/main" val="2785192104"/>
                  </a:ext>
                </a:extLst>
              </a:tr>
              <a:tr h="1737393">
                <a:tc>
                  <a:txBody>
                    <a:bodyPr/>
                    <a:lstStyle/>
                    <a:p>
                      <a:r>
                        <a:rPr lang="en-IN" dirty="0"/>
                        <a:t>3.</a:t>
                      </a:r>
                    </a:p>
                  </a:txBody>
                  <a:tcPr/>
                </a:tc>
                <a:tc>
                  <a:txBody>
                    <a:bodyPr/>
                    <a:lstStyle/>
                    <a:p>
                      <a:pPr algn="just"/>
                      <a:r>
                        <a:rPr lang="en-US" dirty="0"/>
                        <a:t>A Hybrid Firefly and Particle Swarm Optimization Algorithm for MSW Collection</a:t>
                      </a:r>
                    </a:p>
                  </a:txBody>
                  <a:tcPr/>
                </a:tc>
                <a:tc>
                  <a:txBody>
                    <a:bodyPr/>
                    <a:lstStyle/>
                    <a:p>
                      <a:pPr algn="just"/>
                      <a:r>
                        <a:rPr lang="en-IN" dirty="0"/>
                        <a:t>Kaya, Serkan (2023)</a:t>
                      </a:r>
                    </a:p>
                  </a:txBody>
                  <a:tcPr/>
                </a:tc>
                <a:tc>
                  <a:txBody>
                    <a:bodyPr/>
                    <a:lstStyle/>
                    <a:p>
                      <a:pPr algn="just"/>
                      <a:r>
                        <a:rPr lang="en-US" dirty="0"/>
                        <a:t>Applied hybrid metaheuristics to minimize travel distance and improve operational efficiency</a:t>
                      </a:r>
                      <a:endParaRPr lang="en-IN" dirty="0"/>
                    </a:p>
                  </a:txBody>
                  <a:tcPr/>
                </a:tc>
                <a:tc>
                  <a:txBody>
                    <a:bodyPr/>
                    <a:lstStyle/>
                    <a:p>
                      <a:pPr algn="just"/>
                      <a:r>
                        <a:rPr lang="en-US" dirty="0"/>
                        <a:t>Does not integrate geospatial traffic or road condition data</a:t>
                      </a:r>
                    </a:p>
                  </a:txBody>
                  <a:tcPr/>
                </a:tc>
                <a:extLst>
                  <a:ext uri="{0D108BD9-81ED-4DB2-BD59-A6C34878D82A}">
                    <a16:rowId xmlns:a16="http://schemas.microsoft.com/office/drawing/2014/main" val="2743375834"/>
                  </a:ext>
                </a:extLst>
              </a:tr>
              <a:tr h="1453928">
                <a:tc>
                  <a:txBody>
                    <a:bodyPr/>
                    <a:lstStyle/>
                    <a:p>
                      <a:r>
                        <a:rPr lang="en-IN" dirty="0"/>
                        <a:t>4.</a:t>
                      </a:r>
                    </a:p>
                  </a:txBody>
                  <a:tcPr/>
                </a:tc>
                <a:tc>
                  <a:txBody>
                    <a:bodyPr/>
                    <a:lstStyle/>
                    <a:p>
                      <a:pPr algn="just"/>
                      <a:r>
                        <a:rPr lang="en-US" dirty="0"/>
                        <a:t>Optimizing Waste Collection Routes with QPSO-LR Algorithm and IoT Sensors</a:t>
                      </a:r>
                      <a:endParaRPr lang="en-IN" dirty="0"/>
                    </a:p>
                  </a:txBody>
                  <a:tcPr/>
                </a:tc>
                <a:tc>
                  <a:txBody>
                    <a:bodyPr/>
                    <a:lstStyle/>
                    <a:p>
                      <a:pPr algn="just"/>
                      <a:r>
                        <a:rPr lang="en-US" dirty="0"/>
                        <a:t>Velasquez et al. (2024)</a:t>
                      </a:r>
                    </a:p>
                  </a:txBody>
                  <a:tcPr/>
                </a:tc>
                <a:tc>
                  <a:txBody>
                    <a:bodyPr/>
                    <a:lstStyle/>
                    <a:p>
                      <a:pPr algn="just"/>
                      <a:r>
                        <a:rPr lang="en-US" dirty="0"/>
                        <a:t>Used sensor-driven data with adaptive algorithms for smart, real-time waste routing</a:t>
                      </a:r>
                    </a:p>
                  </a:txBody>
                  <a:tcPr/>
                </a:tc>
                <a:tc>
                  <a:txBody>
                    <a:bodyPr/>
                    <a:lstStyle/>
                    <a:p>
                      <a:pPr algn="just"/>
                      <a:r>
                        <a:rPr lang="en-US" dirty="0"/>
                        <a:t>Scalability challenges and limited cross-city benchmarking</a:t>
                      </a:r>
                    </a:p>
                  </a:txBody>
                  <a:tcPr/>
                </a:tc>
                <a:extLst>
                  <a:ext uri="{0D108BD9-81ED-4DB2-BD59-A6C34878D82A}">
                    <a16:rowId xmlns:a16="http://schemas.microsoft.com/office/drawing/2014/main" val="4214405624"/>
                  </a:ext>
                </a:extLst>
              </a:tr>
            </a:tbl>
          </a:graphicData>
        </a:graphic>
      </p:graphicFrame>
    </p:spTree>
    <p:extLst>
      <p:ext uri="{BB962C8B-B14F-4D97-AF65-F5344CB8AC3E}">
        <p14:creationId xmlns:p14="http://schemas.microsoft.com/office/powerpoint/2010/main" val="356017451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E8970-4E76-9108-B134-4AAC8001DD6F}"/>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9133D096-C280-273D-58AC-F2402ABDAC68}"/>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142" name="Rectangle">
            <a:extLst>
              <a:ext uri="{FF2B5EF4-FFF2-40B4-BE49-F238E27FC236}">
                <a16:creationId xmlns:a16="http://schemas.microsoft.com/office/drawing/2014/main" id="{B64370DB-4E2C-B52E-236D-72C2FA8DE573}"/>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PROBLEM STATEMENT</a:t>
            </a:r>
            <a:endParaRPr dirty="0"/>
          </a:p>
        </p:txBody>
      </p:sp>
      <p:sp>
        <p:nvSpPr>
          <p:cNvPr id="4" name="TextBox 3">
            <a:extLst>
              <a:ext uri="{FF2B5EF4-FFF2-40B4-BE49-F238E27FC236}">
                <a16:creationId xmlns:a16="http://schemas.microsoft.com/office/drawing/2014/main" id="{4CCDB44F-8AE2-0904-8C6B-C03E2F333103}"/>
              </a:ext>
            </a:extLst>
          </p:cNvPr>
          <p:cNvSpPr txBox="1"/>
          <p:nvPr/>
        </p:nvSpPr>
        <p:spPr>
          <a:xfrm>
            <a:off x="746449" y="2136339"/>
            <a:ext cx="7661127" cy="2862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r>
              <a:rPr lang="en-US" sz="1800" dirty="0"/>
              <a:t>Urban waste collection in rapidly growing cities like Bengaluru is hindered by rigid routes, uneven waste distribution, and traffic congestion, leading to inefficiencies in time, fuel, and cost. Traditional systems lack adaptability and fail to optimize routes based on real-time conditions. This results in increased CO₂ emissions, unnecessary trips, and higher operational burden. There is a need for an intelligent routing solution that adapts to dynamic waste levels and urban traffic. Our project addresses this by implementing multiple pathfinding algorithms such as Dijkstra, Bellman-Ford, and Ant Colony Optimization. The system incorporates spatial data, vehicle constraints, and prioritization of high-waste zones. This aims to enhance collection efficiency and contribute to a greener, smarter city.</a:t>
            </a:r>
            <a:endParaRPr kumimoji="0" lang="en-IN" sz="1800" b="0" i="0" u="none" strike="noStrike" cap="none" spc="0" normalizeH="0" baseline="0" dirty="0">
              <a:ln>
                <a:noFill/>
              </a:ln>
              <a:solidFill>
                <a:schemeClr val="tx1"/>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0222682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CD40-7639-9572-9B5B-8EE2F8A8D8B8}"/>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E78B2A93-A01F-6525-6FB3-5E237B20212F}"/>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142" name="Rectangle">
            <a:extLst>
              <a:ext uri="{FF2B5EF4-FFF2-40B4-BE49-F238E27FC236}">
                <a16:creationId xmlns:a16="http://schemas.microsoft.com/office/drawing/2014/main" id="{54E88175-B098-07F3-509E-10F5DB09698B}"/>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66E25C3E-1712-093C-6FDA-EF76B070B70A}"/>
              </a:ext>
            </a:extLst>
          </p:cNvPr>
          <p:cNvSpPr txBox="1"/>
          <p:nvPr/>
        </p:nvSpPr>
        <p:spPr>
          <a:xfrm>
            <a:off x="746449" y="1408922"/>
            <a:ext cx="7661127" cy="3416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buNone/>
            </a:pPr>
            <a:r>
              <a:rPr lang="en-US" sz="1800" dirty="0"/>
              <a:t>The methodology for this project is designed to optimize waste collection routes by leveraging spatial data and graph-based algorithms. The process begins with the extraction of geographical coordinates for ten major waste collection points across Bengaluru using OpenStreetMap. A disposal point is also identified as the final destination for all routes. Using the Haversine formula, a distance matrix is constructed to calculate the pairwise distances between all points, considering Earth’s curvature.</a:t>
            </a:r>
          </a:p>
          <a:p>
            <a:pPr>
              <a:buNone/>
            </a:pPr>
            <a:endParaRPr lang="en-US" sz="1800" dirty="0"/>
          </a:p>
          <a:p>
            <a:r>
              <a:rPr lang="en-US" sz="1800" dirty="0"/>
              <a:t>Each waste collection point is assigned a simulated waste quantity and is classified into three categories: high (red), medium (orange), and low (green) based on threshold values. These priorities help in route ranking during optimization.</a:t>
            </a:r>
          </a:p>
        </p:txBody>
      </p:sp>
    </p:spTree>
    <p:extLst>
      <p:ext uri="{BB962C8B-B14F-4D97-AF65-F5344CB8AC3E}">
        <p14:creationId xmlns:p14="http://schemas.microsoft.com/office/powerpoint/2010/main" val="204668407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5728-ABD2-9354-A562-4A790F705B0F}"/>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E2F562F1-60F1-0B88-75E2-590429018295}"/>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
        <p:nvSpPr>
          <p:cNvPr id="142" name="Rectangle">
            <a:extLst>
              <a:ext uri="{FF2B5EF4-FFF2-40B4-BE49-F238E27FC236}">
                <a16:creationId xmlns:a16="http://schemas.microsoft.com/office/drawing/2014/main" id="{52488182-C8D1-4E28-6A42-13ACAB1FCC5B}"/>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31CBAF09-A4C1-F722-B9A4-1F1C21398B34}"/>
              </a:ext>
            </a:extLst>
          </p:cNvPr>
          <p:cNvSpPr txBox="1"/>
          <p:nvPr/>
        </p:nvSpPr>
        <p:spPr>
          <a:xfrm>
            <a:off x="746449" y="1408922"/>
            <a:ext cx="7661127" cy="3970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buNone/>
            </a:pPr>
            <a:r>
              <a:rPr lang="en-US" sz="1800" dirty="0"/>
              <a:t>Six routing algorithms are implemented:</a:t>
            </a:r>
          </a:p>
          <a:p>
            <a:pPr>
              <a:buNone/>
            </a:pPr>
            <a:endParaRPr lang="en-US" sz="1800" dirty="0"/>
          </a:p>
          <a:p>
            <a:pPr>
              <a:buFont typeface="Arial" panose="020B0604020202020204" pitchFamily="34" charset="0"/>
              <a:buChar char="•"/>
            </a:pPr>
            <a:r>
              <a:rPr lang="en-US" sz="1800" b="1" dirty="0"/>
              <a:t>Dijkstra’s Algorithm</a:t>
            </a:r>
            <a:r>
              <a:rPr lang="en-US" sz="1800" dirty="0"/>
              <a:t> (greedy approach for shortest paths)</a:t>
            </a:r>
          </a:p>
          <a:p>
            <a:pPr>
              <a:buFont typeface="Arial" panose="020B0604020202020204" pitchFamily="34" charset="0"/>
              <a:buChar char="•"/>
            </a:pPr>
            <a:r>
              <a:rPr lang="en-US" sz="1800" b="1" dirty="0"/>
              <a:t>Bellman-Ford Algorithm</a:t>
            </a:r>
            <a:r>
              <a:rPr lang="en-US" sz="1800" dirty="0"/>
              <a:t> (handles negative edge weights)</a:t>
            </a:r>
          </a:p>
          <a:p>
            <a:pPr>
              <a:buFont typeface="Arial" panose="020B0604020202020204" pitchFamily="34" charset="0"/>
              <a:buChar char="•"/>
            </a:pPr>
            <a:r>
              <a:rPr lang="en-US" sz="1800" b="1" dirty="0"/>
              <a:t>Johnson’s Algorithm</a:t>
            </a:r>
            <a:r>
              <a:rPr lang="en-US" sz="1800" dirty="0"/>
              <a:t> (efficient for sparse graphs)</a:t>
            </a:r>
          </a:p>
          <a:p>
            <a:pPr>
              <a:buFont typeface="Arial" panose="020B0604020202020204" pitchFamily="34" charset="0"/>
              <a:buChar char="•"/>
            </a:pPr>
            <a:r>
              <a:rPr lang="en-US" sz="1800" b="1" dirty="0"/>
              <a:t>Floyd-Warshall Algorithm</a:t>
            </a:r>
            <a:r>
              <a:rPr lang="en-US" sz="1800" dirty="0"/>
              <a:t> (all-pairs shortest path)</a:t>
            </a:r>
          </a:p>
          <a:p>
            <a:pPr>
              <a:buFont typeface="Arial" panose="020B0604020202020204" pitchFamily="34" charset="0"/>
              <a:buChar char="•"/>
            </a:pPr>
            <a:r>
              <a:rPr lang="en-US" sz="1800" b="1" dirty="0"/>
              <a:t>Nearest Neighbor</a:t>
            </a:r>
            <a:r>
              <a:rPr lang="en-US" sz="1800" dirty="0"/>
              <a:t> (simple greedy heuristic)</a:t>
            </a:r>
          </a:p>
          <a:p>
            <a:pPr>
              <a:buFont typeface="Arial" panose="020B0604020202020204" pitchFamily="34" charset="0"/>
              <a:buChar char="•"/>
            </a:pPr>
            <a:r>
              <a:rPr lang="en-US" sz="1800" b="1" dirty="0"/>
              <a:t>Ant Colony Optimization</a:t>
            </a:r>
            <a:r>
              <a:rPr lang="en-US" sz="1800" dirty="0"/>
              <a:t> (probabilistic, nature-inspired method)</a:t>
            </a:r>
          </a:p>
          <a:p>
            <a:pPr>
              <a:buFont typeface="Arial" panose="020B0604020202020204" pitchFamily="34" charset="0"/>
              <a:buChar char="•"/>
            </a:pPr>
            <a:endParaRPr lang="en-US" sz="1800" dirty="0"/>
          </a:p>
          <a:p>
            <a:endParaRPr lang="en-US" sz="1800" dirty="0"/>
          </a:p>
          <a:p>
            <a:r>
              <a:rPr lang="en-US" sz="1800" dirty="0"/>
              <a:t>Each algorithm is modified to respect vehicle capacity constraints. The outputs are evaluated based on execution time, total distance, fuel usage, CO₂ emission, and number of trips. These metrics are used to compare algorithms and determine the most efficient one for real-world application in smart city waste management.</a:t>
            </a:r>
          </a:p>
        </p:txBody>
      </p:sp>
    </p:spTree>
    <p:extLst>
      <p:ext uri="{BB962C8B-B14F-4D97-AF65-F5344CB8AC3E}">
        <p14:creationId xmlns:p14="http://schemas.microsoft.com/office/powerpoint/2010/main" val="382560652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6752C-DCDD-E793-9E42-C2C1AB99A2A9}"/>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A2D60F2F-B565-9D81-3DDA-A9D8B79BC4A1}"/>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
        <p:nvSpPr>
          <p:cNvPr id="142" name="Rectangle">
            <a:extLst>
              <a:ext uri="{FF2B5EF4-FFF2-40B4-BE49-F238E27FC236}">
                <a16:creationId xmlns:a16="http://schemas.microsoft.com/office/drawing/2014/main" id="{8D2FF26C-90F4-1A00-E273-E43203502BB6}"/>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243A814E-6E21-2A66-69BD-F829FF93181B}"/>
              </a:ext>
            </a:extLst>
          </p:cNvPr>
          <p:cNvSpPr txBox="1"/>
          <p:nvPr/>
        </p:nvSpPr>
        <p:spPr>
          <a:xfrm>
            <a:off x="746449" y="1408922"/>
            <a:ext cx="7661127" cy="8617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00000"/>
              </a:lnSpc>
              <a:spcBef>
                <a:spcPts val="0"/>
              </a:spcBef>
              <a:spcAft>
                <a:spcPts val="0"/>
              </a:spcAft>
              <a:buClrTx/>
              <a:buSzTx/>
              <a:buFontTx/>
              <a:buNone/>
              <a:tabLst/>
            </a:pPr>
            <a:r>
              <a:rPr lang="en-IN" sz="1800" b="1" dirty="0"/>
              <a:t>Use Case Diagram:</a:t>
            </a:r>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F0D5711A-CAF5-EAFB-7B5F-C72D9B0E2ECD}"/>
              </a:ext>
            </a:extLst>
          </p:cNvPr>
          <p:cNvPicPr>
            <a:picLocks noChangeAspect="1"/>
          </p:cNvPicPr>
          <p:nvPr/>
        </p:nvPicPr>
        <p:blipFill>
          <a:blip r:embed="rId2"/>
          <a:stretch>
            <a:fillRect/>
          </a:stretch>
        </p:blipFill>
        <p:spPr>
          <a:xfrm>
            <a:off x="2529839" y="1844040"/>
            <a:ext cx="5863921" cy="4137660"/>
          </a:xfrm>
          <a:prstGeom prst="rect">
            <a:avLst/>
          </a:prstGeom>
        </p:spPr>
      </p:pic>
    </p:spTree>
    <p:extLst>
      <p:ext uri="{BB962C8B-B14F-4D97-AF65-F5344CB8AC3E}">
        <p14:creationId xmlns:p14="http://schemas.microsoft.com/office/powerpoint/2010/main" val="287443415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1A36E-0A99-191A-4473-47FEA8A00605}"/>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2C565671-9242-CD9B-4C64-318FB155667F}"/>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sp>
        <p:nvSpPr>
          <p:cNvPr id="142" name="Rectangle">
            <a:extLst>
              <a:ext uri="{FF2B5EF4-FFF2-40B4-BE49-F238E27FC236}">
                <a16:creationId xmlns:a16="http://schemas.microsoft.com/office/drawing/2014/main" id="{C095828E-7179-3843-5E67-414C1CB1046B}"/>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10A542CF-47A9-5042-A923-50D36149638D}"/>
              </a:ext>
            </a:extLst>
          </p:cNvPr>
          <p:cNvSpPr txBox="1"/>
          <p:nvPr/>
        </p:nvSpPr>
        <p:spPr>
          <a:xfrm>
            <a:off x="746449" y="1408922"/>
            <a:ext cx="7661127" cy="8617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00000"/>
              </a:lnSpc>
              <a:spcBef>
                <a:spcPts val="0"/>
              </a:spcBef>
              <a:spcAft>
                <a:spcPts val="0"/>
              </a:spcAft>
              <a:buClrTx/>
              <a:buSzTx/>
              <a:buFontTx/>
              <a:buNone/>
              <a:tabLst/>
            </a:pPr>
            <a:r>
              <a:rPr lang="en-IN" sz="1800" b="1" dirty="0"/>
              <a:t>Sequence Diagram:</a:t>
            </a:r>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1EF50B5-CE40-8BDD-A33A-C62A8CB6A020}"/>
              </a:ext>
            </a:extLst>
          </p:cNvPr>
          <p:cNvPicPr>
            <a:picLocks noChangeAspect="1"/>
          </p:cNvPicPr>
          <p:nvPr/>
        </p:nvPicPr>
        <p:blipFill>
          <a:blip r:embed="rId2"/>
          <a:stretch>
            <a:fillRect/>
          </a:stretch>
        </p:blipFill>
        <p:spPr>
          <a:xfrm>
            <a:off x="1471136" y="1800808"/>
            <a:ext cx="6581182" cy="4385108"/>
          </a:xfrm>
          <a:prstGeom prst="rect">
            <a:avLst/>
          </a:prstGeom>
        </p:spPr>
      </p:pic>
    </p:spTree>
    <p:extLst>
      <p:ext uri="{BB962C8B-B14F-4D97-AF65-F5344CB8AC3E}">
        <p14:creationId xmlns:p14="http://schemas.microsoft.com/office/powerpoint/2010/main" val="286479496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32293-91BD-8132-6EB3-9821BB3B216D}"/>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201F0D35-8679-7425-D42E-A76E8A1EC916}"/>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142" name="Rectangle">
            <a:extLst>
              <a:ext uri="{FF2B5EF4-FFF2-40B4-BE49-F238E27FC236}">
                <a16:creationId xmlns:a16="http://schemas.microsoft.com/office/drawing/2014/main" id="{A239270C-0CC7-E460-589C-84F772F62750}"/>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37012AF5-65E3-DBE1-0D69-96A52706C82F}"/>
              </a:ext>
            </a:extLst>
          </p:cNvPr>
          <p:cNvSpPr txBox="1"/>
          <p:nvPr/>
        </p:nvSpPr>
        <p:spPr>
          <a:xfrm>
            <a:off x="746449" y="1408922"/>
            <a:ext cx="7661127" cy="8617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00000"/>
              </a:lnSpc>
              <a:spcBef>
                <a:spcPts val="0"/>
              </a:spcBef>
              <a:spcAft>
                <a:spcPts val="0"/>
              </a:spcAft>
              <a:buClrTx/>
              <a:buSzTx/>
              <a:buFontTx/>
              <a:buNone/>
              <a:tabLst/>
            </a:pPr>
            <a:r>
              <a:rPr lang="en-IN" sz="1800" b="1" dirty="0"/>
              <a:t>Activity Diagram:</a:t>
            </a:r>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B34024D-B70A-9B34-1E2E-82467D08E185}"/>
              </a:ext>
            </a:extLst>
          </p:cNvPr>
          <p:cNvPicPr>
            <a:picLocks noChangeAspect="1"/>
          </p:cNvPicPr>
          <p:nvPr/>
        </p:nvPicPr>
        <p:blipFill>
          <a:blip r:embed="rId2"/>
          <a:stretch>
            <a:fillRect/>
          </a:stretch>
        </p:blipFill>
        <p:spPr>
          <a:xfrm>
            <a:off x="2826869" y="1577341"/>
            <a:ext cx="3490262" cy="4274820"/>
          </a:xfrm>
          <a:prstGeom prst="rect">
            <a:avLst/>
          </a:prstGeom>
        </p:spPr>
      </p:pic>
    </p:spTree>
    <p:extLst>
      <p:ext uri="{BB962C8B-B14F-4D97-AF65-F5344CB8AC3E}">
        <p14:creationId xmlns:p14="http://schemas.microsoft.com/office/powerpoint/2010/main" val="292331886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4C327-5380-B1D2-AB22-E7D87C2365AD}"/>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55EA533C-6C1C-46BB-F836-91DAECDFB01A}"/>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
        <p:nvSpPr>
          <p:cNvPr id="142" name="Rectangle">
            <a:extLst>
              <a:ext uri="{FF2B5EF4-FFF2-40B4-BE49-F238E27FC236}">
                <a16:creationId xmlns:a16="http://schemas.microsoft.com/office/drawing/2014/main" id="{FFE0E9A6-13AD-99D3-B31D-CDB2B4154D37}"/>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FACDC028-CBD4-8445-FD99-3F21B13EF688}"/>
              </a:ext>
            </a:extLst>
          </p:cNvPr>
          <p:cNvSpPr txBox="1"/>
          <p:nvPr/>
        </p:nvSpPr>
        <p:spPr>
          <a:xfrm>
            <a:off x="847961" y="1483567"/>
            <a:ext cx="7661127" cy="418575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00000"/>
              </a:lnSpc>
              <a:spcBef>
                <a:spcPts val="0"/>
              </a:spcBef>
              <a:spcAft>
                <a:spcPts val="0"/>
              </a:spcAft>
              <a:buClrTx/>
              <a:buSzTx/>
              <a:buFontTx/>
              <a:buNone/>
              <a:tabLst/>
            </a:pPr>
            <a:r>
              <a:rPr lang="en-IN" sz="1800" b="1" dirty="0"/>
              <a:t>Bug Report:</a:t>
            </a:r>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F622D15B-7058-011B-D922-92C9BFE62F73}"/>
              </a:ext>
            </a:extLst>
          </p:cNvPr>
          <p:cNvGraphicFramePr>
            <a:graphicFrameLocks noGrp="1"/>
          </p:cNvGraphicFramePr>
          <p:nvPr>
            <p:extLst>
              <p:ext uri="{D42A27DB-BD31-4B8C-83A1-F6EECF244321}">
                <p14:modId xmlns:p14="http://schemas.microsoft.com/office/powerpoint/2010/main" val="1011225705"/>
              </p:ext>
            </p:extLst>
          </p:nvPr>
        </p:nvGraphicFramePr>
        <p:xfrm>
          <a:off x="634912" y="2014280"/>
          <a:ext cx="7874175" cy="3919990"/>
        </p:xfrm>
        <a:graphic>
          <a:graphicData uri="http://schemas.openxmlformats.org/drawingml/2006/table">
            <a:tbl>
              <a:tblPr/>
              <a:tblGrid>
                <a:gridCol w="1574835">
                  <a:extLst>
                    <a:ext uri="{9D8B030D-6E8A-4147-A177-3AD203B41FA5}">
                      <a16:colId xmlns:a16="http://schemas.microsoft.com/office/drawing/2014/main" val="543651983"/>
                    </a:ext>
                  </a:extLst>
                </a:gridCol>
                <a:gridCol w="1574835">
                  <a:extLst>
                    <a:ext uri="{9D8B030D-6E8A-4147-A177-3AD203B41FA5}">
                      <a16:colId xmlns:a16="http://schemas.microsoft.com/office/drawing/2014/main" val="2988625602"/>
                    </a:ext>
                  </a:extLst>
                </a:gridCol>
                <a:gridCol w="1574835">
                  <a:extLst>
                    <a:ext uri="{9D8B030D-6E8A-4147-A177-3AD203B41FA5}">
                      <a16:colId xmlns:a16="http://schemas.microsoft.com/office/drawing/2014/main" val="2583358087"/>
                    </a:ext>
                  </a:extLst>
                </a:gridCol>
                <a:gridCol w="1574835">
                  <a:extLst>
                    <a:ext uri="{9D8B030D-6E8A-4147-A177-3AD203B41FA5}">
                      <a16:colId xmlns:a16="http://schemas.microsoft.com/office/drawing/2014/main" val="2066662484"/>
                    </a:ext>
                  </a:extLst>
                </a:gridCol>
                <a:gridCol w="1574835">
                  <a:extLst>
                    <a:ext uri="{9D8B030D-6E8A-4147-A177-3AD203B41FA5}">
                      <a16:colId xmlns:a16="http://schemas.microsoft.com/office/drawing/2014/main" val="2440744555"/>
                    </a:ext>
                  </a:extLst>
                </a:gridCol>
              </a:tblGrid>
              <a:tr h="308661">
                <a:tc>
                  <a:txBody>
                    <a:bodyPr/>
                    <a:lstStyle/>
                    <a:p>
                      <a:r>
                        <a:rPr lang="en-IN" b="1" dirty="0"/>
                        <a:t>Bug ID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Description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Severity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Status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b="1"/>
                        <a:t>Fix Summary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6700458"/>
                  </a:ext>
                </a:extLst>
              </a:tr>
              <a:tr h="956848">
                <a:tc>
                  <a:txBody>
                    <a:bodyPr/>
                    <a:lstStyle/>
                    <a:p>
                      <a:pPr algn="ctr"/>
                      <a:r>
                        <a:rPr lang="en-IN" dirty="0"/>
                        <a:t>BB-001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Progress tracker not updating after marking resources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Added backend</a:t>
                      </a:r>
                    </a:p>
                    <a:p>
                      <a:pPr algn="just"/>
                      <a:r>
                        <a:rPr lang="en-US" dirty="0"/>
                        <a:t>route to update</a:t>
                      </a:r>
                    </a:p>
                    <a:p>
                      <a:pPr algn="just"/>
                      <a:r>
                        <a:rPr lang="en-US" dirty="0"/>
                        <a:t>DB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9185409"/>
                  </a:ext>
                </a:extLst>
              </a:tr>
              <a:tr h="956848">
                <a:tc>
                  <a:txBody>
                    <a:bodyPr/>
                    <a:lstStyle/>
                    <a:p>
                      <a:pPr algn="ctr"/>
                      <a:r>
                        <a:rPr lang="en-IN" dirty="0"/>
                        <a:t>BB-002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Learning resource links opening in same 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Updated anchor</a:t>
                      </a:r>
                    </a:p>
                    <a:p>
                      <a:pPr algn="just"/>
                      <a:r>
                        <a:rPr lang="en-US" dirty="0"/>
                        <a:t>tags with</a:t>
                      </a:r>
                    </a:p>
                    <a:p>
                      <a:pPr algn="just"/>
                      <a:r>
                        <a:rPr lang="en-US" dirty="0"/>
                        <a:t>target="_blank"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5415465"/>
                  </a:ext>
                </a:extLst>
              </a:tr>
              <a:tr h="956848">
                <a:tc>
                  <a:txBody>
                    <a:bodyPr/>
                    <a:lstStyle/>
                    <a:p>
                      <a:pPr algn="ctr"/>
                      <a:r>
                        <a:rPr lang="en-IN" dirty="0"/>
                        <a:t>BB-003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Login error</a:t>
                      </a:r>
                    </a:p>
                    <a:p>
                      <a:pPr algn="just"/>
                      <a:r>
                        <a:rPr lang="en-US" dirty="0"/>
                        <a:t>message not</a:t>
                      </a:r>
                    </a:p>
                    <a:p>
                      <a:pPr algn="just"/>
                      <a:r>
                        <a:rPr lang="en-US" dirty="0"/>
                        <a:t>showing on invalid login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Added conditional rendering in</a:t>
                      </a:r>
                    </a:p>
                    <a:p>
                      <a:pPr algn="just"/>
                      <a:r>
                        <a:rPr lang="en-US" dirty="0"/>
                        <a:t>Flask template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0025442"/>
                  </a:ext>
                </a:extLst>
              </a:tr>
              <a:tr h="740785">
                <a:tc>
                  <a:txBody>
                    <a:bodyPr/>
                    <a:lstStyle/>
                    <a:p>
                      <a:pPr algn="ctr"/>
                      <a:r>
                        <a:rPr lang="en-IN" dirty="0"/>
                        <a:t>BB-004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dirty="0"/>
                        <a:t>Dashboard UI</a:t>
                      </a:r>
                    </a:p>
                    <a:p>
                      <a:pPr algn="just"/>
                      <a:r>
                        <a:rPr lang="en-US" dirty="0"/>
                        <a:t>overlap on small</a:t>
                      </a:r>
                    </a:p>
                    <a:p>
                      <a:pPr algn="just"/>
                      <a:r>
                        <a:rPr lang="en-US" dirty="0"/>
                        <a:t>screen devices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dirty="0"/>
                        <a:t>Adjusted CSS</a:t>
                      </a:r>
                    </a:p>
                    <a:p>
                      <a:pPr algn="just"/>
                      <a:r>
                        <a:rPr lang="en-IN" dirty="0"/>
                        <a:t>media queries for mobile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9969563"/>
                  </a:ext>
                </a:extLst>
              </a:tr>
            </a:tbl>
          </a:graphicData>
        </a:graphic>
      </p:graphicFrame>
    </p:spTree>
    <p:extLst>
      <p:ext uri="{BB962C8B-B14F-4D97-AF65-F5344CB8AC3E}">
        <p14:creationId xmlns:p14="http://schemas.microsoft.com/office/powerpoint/2010/main" val="228424772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0D559-ED84-4BB5-6E15-CD40AA82B61E}"/>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E9CB19D7-85A5-2855-D205-0B95A41A03B6}"/>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142" name="Rectangle">
            <a:extLst>
              <a:ext uri="{FF2B5EF4-FFF2-40B4-BE49-F238E27FC236}">
                <a16:creationId xmlns:a16="http://schemas.microsoft.com/office/drawing/2014/main" id="{0AB09EF7-F744-0F6F-E752-B9D47993F320}"/>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58F654E9-DFA0-0537-1D3A-6756CB25595E}"/>
              </a:ext>
            </a:extLst>
          </p:cNvPr>
          <p:cNvSpPr txBox="1"/>
          <p:nvPr/>
        </p:nvSpPr>
        <p:spPr>
          <a:xfrm>
            <a:off x="847961" y="1483567"/>
            <a:ext cx="7661127"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45B0D46F-54A9-8874-9E55-988A9F4A3919}"/>
              </a:ext>
            </a:extLst>
          </p:cNvPr>
          <p:cNvGraphicFramePr>
            <a:graphicFrameLocks noGrp="1"/>
          </p:cNvGraphicFramePr>
          <p:nvPr>
            <p:extLst>
              <p:ext uri="{D42A27DB-BD31-4B8C-83A1-F6EECF244321}">
                <p14:modId xmlns:p14="http://schemas.microsoft.com/office/powerpoint/2010/main" val="2113202875"/>
              </p:ext>
            </p:extLst>
          </p:nvPr>
        </p:nvGraphicFramePr>
        <p:xfrm>
          <a:off x="1219200" y="1305560"/>
          <a:ext cx="7391400" cy="5455920"/>
        </p:xfrm>
        <a:graphic>
          <a:graphicData uri="http://schemas.openxmlformats.org/drawingml/2006/table">
            <a:tbl>
              <a:tblPr firstRow="1" bandRow="1">
                <a:tableStyleId>{5940675A-B579-460E-94D1-54222C63F5DA}</a:tableStyleId>
              </a:tblPr>
              <a:tblGrid>
                <a:gridCol w="510540">
                  <a:extLst>
                    <a:ext uri="{9D8B030D-6E8A-4147-A177-3AD203B41FA5}">
                      <a16:colId xmlns:a16="http://schemas.microsoft.com/office/drawing/2014/main" val="1087945661"/>
                    </a:ext>
                  </a:extLst>
                </a:gridCol>
                <a:gridCol w="998220">
                  <a:extLst>
                    <a:ext uri="{9D8B030D-6E8A-4147-A177-3AD203B41FA5}">
                      <a16:colId xmlns:a16="http://schemas.microsoft.com/office/drawing/2014/main" val="592321622"/>
                    </a:ext>
                  </a:extLst>
                </a:gridCol>
                <a:gridCol w="2194560">
                  <a:extLst>
                    <a:ext uri="{9D8B030D-6E8A-4147-A177-3AD203B41FA5}">
                      <a16:colId xmlns:a16="http://schemas.microsoft.com/office/drawing/2014/main" val="3553780411"/>
                    </a:ext>
                  </a:extLst>
                </a:gridCol>
                <a:gridCol w="1013460">
                  <a:extLst>
                    <a:ext uri="{9D8B030D-6E8A-4147-A177-3AD203B41FA5}">
                      <a16:colId xmlns:a16="http://schemas.microsoft.com/office/drawing/2014/main" val="2937855693"/>
                    </a:ext>
                  </a:extLst>
                </a:gridCol>
                <a:gridCol w="967740">
                  <a:extLst>
                    <a:ext uri="{9D8B030D-6E8A-4147-A177-3AD203B41FA5}">
                      <a16:colId xmlns:a16="http://schemas.microsoft.com/office/drawing/2014/main" val="1500194455"/>
                    </a:ext>
                  </a:extLst>
                </a:gridCol>
                <a:gridCol w="1706880">
                  <a:extLst>
                    <a:ext uri="{9D8B030D-6E8A-4147-A177-3AD203B41FA5}">
                      <a16:colId xmlns:a16="http://schemas.microsoft.com/office/drawing/2014/main" val="1275942280"/>
                    </a:ext>
                  </a:extLst>
                </a:gridCol>
              </a:tblGrid>
              <a:tr h="370840">
                <a:tc>
                  <a:txBody>
                    <a:bodyPr/>
                    <a:lstStyle/>
                    <a:p>
                      <a:pPr algn="l"/>
                      <a:r>
                        <a:rPr lang="en-IN" b="1" dirty="0"/>
                        <a:t>S. No</a:t>
                      </a:r>
                      <a:endParaRPr lang="en-IN" dirty="0"/>
                    </a:p>
                  </a:txBody>
                  <a:tcPr anchor="ctr"/>
                </a:tc>
                <a:tc>
                  <a:txBody>
                    <a:bodyPr/>
                    <a:lstStyle/>
                    <a:p>
                      <a:pPr algn="l"/>
                      <a:r>
                        <a:rPr lang="en-IN" dirty="0"/>
                        <a:t>Module</a:t>
                      </a:r>
                    </a:p>
                  </a:txBody>
                  <a:tcPr anchor="ctr"/>
                </a:tc>
                <a:tc>
                  <a:txBody>
                    <a:bodyPr/>
                    <a:lstStyle/>
                    <a:p>
                      <a:pPr algn="l"/>
                      <a:r>
                        <a:rPr lang="en-IN" dirty="0"/>
                        <a:t>Bug Description</a:t>
                      </a:r>
                    </a:p>
                  </a:txBody>
                  <a:tcPr/>
                </a:tc>
                <a:tc>
                  <a:txBody>
                    <a:bodyPr/>
                    <a:lstStyle/>
                    <a:p>
                      <a:pPr algn="l"/>
                      <a:r>
                        <a:rPr lang="en-IN" dirty="0"/>
                        <a:t>Severity</a:t>
                      </a:r>
                    </a:p>
                  </a:txBody>
                  <a:tcPr/>
                </a:tc>
                <a:tc>
                  <a:txBody>
                    <a:bodyPr/>
                    <a:lstStyle/>
                    <a:p>
                      <a:pPr algn="l"/>
                      <a:r>
                        <a:rPr lang="en-IN" dirty="0"/>
                        <a:t>Status</a:t>
                      </a:r>
                    </a:p>
                  </a:txBody>
                  <a:tcPr/>
                </a:tc>
                <a:tc>
                  <a:txBody>
                    <a:bodyPr/>
                    <a:lstStyle/>
                    <a:p>
                      <a:pPr algn="l"/>
                      <a:r>
                        <a:rPr lang="en-IN" dirty="0"/>
                        <a:t>Fix Summary</a:t>
                      </a:r>
                    </a:p>
                  </a:txBody>
                  <a:tcPr/>
                </a:tc>
                <a:extLst>
                  <a:ext uri="{0D108BD9-81ED-4DB2-BD59-A6C34878D82A}">
                    <a16:rowId xmlns:a16="http://schemas.microsoft.com/office/drawing/2014/main" val="1585810150"/>
                  </a:ext>
                </a:extLst>
              </a:tr>
              <a:tr h="0">
                <a:tc>
                  <a:txBody>
                    <a:bodyPr/>
                    <a:lstStyle/>
                    <a:p>
                      <a:pPr algn="l"/>
                      <a:r>
                        <a:rPr lang="en-US" dirty="0"/>
                        <a:t>1</a:t>
                      </a:r>
                      <a:endParaRPr lang="en-IN" dirty="0"/>
                    </a:p>
                  </a:txBody>
                  <a:tcPr/>
                </a:tc>
                <a:tc>
                  <a:txBody>
                    <a:bodyPr/>
                    <a:lstStyle/>
                    <a:p>
                      <a:pPr algn="l"/>
                      <a:r>
                        <a:rPr lang="en-IN" dirty="0"/>
                        <a:t>Distance Matrix Calculation</a:t>
                      </a:r>
                    </a:p>
                  </a:txBody>
                  <a:tcPr/>
                </a:tc>
                <a:tc>
                  <a:txBody>
                    <a:bodyPr/>
                    <a:lstStyle/>
                    <a:p>
                      <a:pPr algn="l"/>
                      <a:r>
                        <a:rPr lang="en-US" b="0" dirty="0"/>
                        <a:t>Incorrect distance values due to swapped </a:t>
                      </a:r>
                      <a:r>
                        <a:rPr lang="en-US" b="0" dirty="0" err="1"/>
                        <a:t>lat</a:t>
                      </a:r>
                      <a:r>
                        <a:rPr lang="en-US" b="0" dirty="0"/>
                        <a:t>-long input</a:t>
                      </a:r>
                      <a:endParaRPr lang="en-IN" b="0" dirty="0"/>
                    </a:p>
                  </a:txBody>
                  <a:tcPr/>
                </a:tc>
                <a:tc>
                  <a:txBody>
                    <a:bodyPr/>
                    <a:lstStyle/>
                    <a:p>
                      <a:pPr algn="l"/>
                      <a:r>
                        <a:rPr lang="en-IN" dirty="0"/>
                        <a:t>High</a:t>
                      </a:r>
                    </a:p>
                  </a:txBody>
                  <a:tcPr/>
                </a:tc>
                <a:tc>
                  <a:txBody>
                    <a:bodyPr/>
                    <a:lstStyle/>
                    <a:p>
                      <a:pPr algn="l"/>
                      <a:r>
                        <a:rPr lang="en-IN" dirty="0"/>
                        <a:t>Resolved</a:t>
                      </a:r>
                    </a:p>
                  </a:txBody>
                  <a:tcPr/>
                </a:tc>
                <a:tc>
                  <a:txBody>
                    <a:bodyPr/>
                    <a:lstStyle/>
                    <a:p>
                      <a:pPr algn="l"/>
                      <a:r>
                        <a:rPr lang="en-US" dirty="0"/>
                        <a:t>Implemented validation to check coordinate format</a:t>
                      </a:r>
                      <a:endParaRPr lang="en-IN" dirty="0"/>
                    </a:p>
                  </a:txBody>
                  <a:tcPr/>
                </a:tc>
                <a:extLst>
                  <a:ext uri="{0D108BD9-81ED-4DB2-BD59-A6C34878D82A}">
                    <a16:rowId xmlns:a16="http://schemas.microsoft.com/office/drawing/2014/main" val="3684810334"/>
                  </a:ext>
                </a:extLst>
              </a:tr>
              <a:tr h="370840">
                <a:tc>
                  <a:txBody>
                    <a:bodyPr/>
                    <a:lstStyle/>
                    <a:p>
                      <a:pPr algn="l"/>
                      <a:r>
                        <a:rPr lang="en-US" dirty="0"/>
                        <a:t>2</a:t>
                      </a:r>
                      <a:endParaRPr lang="en-IN" dirty="0"/>
                    </a:p>
                  </a:txBody>
                  <a:tcPr/>
                </a:tc>
                <a:tc>
                  <a:txBody>
                    <a:bodyPr/>
                    <a:lstStyle/>
                    <a:p>
                      <a:pPr algn="l"/>
                      <a:r>
                        <a:rPr lang="en-IN" dirty="0"/>
                        <a:t>Load Assignment</a:t>
                      </a:r>
                    </a:p>
                  </a:txBody>
                  <a:tcPr/>
                </a:tc>
                <a:tc>
                  <a:txBody>
                    <a:bodyPr/>
                    <a:lstStyle/>
                    <a:p>
                      <a:pPr algn="l"/>
                      <a:r>
                        <a:rPr lang="en-US" dirty="0"/>
                        <a:t>Load values not updating for all nodes</a:t>
                      </a:r>
                      <a:endParaRPr lang="en-IN" dirty="0"/>
                    </a:p>
                  </a:txBody>
                  <a:tcPr/>
                </a:tc>
                <a:tc>
                  <a:txBody>
                    <a:bodyPr/>
                    <a:lstStyle/>
                    <a:p>
                      <a:pPr algn="l"/>
                      <a:r>
                        <a:rPr lang="en-IN" dirty="0"/>
                        <a:t>Medium</a:t>
                      </a:r>
                    </a:p>
                  </a:txBody>
                  <a:tcPr/>
                </a:tc>
                <a:tc>
                  <a:txBody>
                    <a:bodyPr/>
                    <a:lstStyle/>
                    <a:p>
                      <a:pPr algn="l"/>
                      <a:r>
                        <a:rPr lang="en-IN" dirty="0"/>
                        <a:t>Resolved</a:t>
                      </a:r>
                    </a:p>
                  </a:txBody>
                  <a:tcPr/>
                </a:tc>
                <a:tc>
                  <a:txBody>
                    <a:bodyPr/>
                    <a:lstStyle/>
                    <a:p>
                      <a:pPr algn="l"/>
                      <a:r>
                        <a:rPr lang="en-US" dirty="0"/>
                        <a:t>Corrected loop indexing to assign values to all locations</a:t>
                      </a:r>
                      <a:endParaRPr lang="en-IN" dirty="0"/>
                    </a:p>
                  </a:txBody>
                  <a:tcPr/>
                </a:tc>
                <a:extLst>
                  <a:ext uri="{0D108BD9-81ED-4DB2-BD59-A6C34878D82A}">
                    <a16:rowId xmlns:a16="http://schemas.microsoft.com/office/drawing/2014/main" val="691440890"/>
                  </a:ext>
                </a:extLst>
              </a:tr>
              <a:tr h="370840">
                <a:tc>
                  <a:txBody>
                    <a:bodyPr/>
                    <a:lstStyle/>
                    <a:p>
                      <a:pPr algn="l"/>
                      <a:r>
                        <a:rPr lang="en-US" dirty="0"/>
                        <a:t>3</a:t>
                      </a:r>
                      <a:endParaRPr lang="en-IN" dirty="0"/>
                    </a:p>
                  </a:txBody>
                  <a:tcPr/>
                </a:tc>
                <a:tc>
                  <a:txBody>
                    <a:bodyPr/>
                    <a:lstStyle/>
                    <a:p>
                      <a:pPr algn="l"/>
                      <a:r>
                        <a:rPr lang="en-IN" dirty="0"/>
                        <a:t>ACO Algorithm</a:t>
                      </a:r>
                    </a:p>
                  </a:txBody>
                  <a:tcPr/>
                </a:tc>
                <a:tc>
                  <a:txBody>
                    <a:bodyPr/>
                    <a:lstStyle/>
                    <a:p>
                      <a:pPr algn="l"/>
                      <a:r>
                        <a:rPr lang="en-IN" dirty="0"/>
                        <a:t>Infinite loop due to improper termination condition</a:t>
                      </a:r>
                    </a:p>
                  </a:txBody>
                  <a:tcPr/>
                </a:tc>
                <a:tc>
                  <a:txBody>
                    <a:bodyPr/>
                    <a:lstStyle/>
                    <a:p>
                      <a:pPr algn="l"/>
                      <a:r>
                        <a:rPr lang="en-IN" dirty="0"/>
                        <a:t>High</a:t>
                      </a:r>
                    </a:p>
                  </a:txBody>
                  <a:tcPr/>
                </a:tc>
                <a:tc>
                  <a:txBody>
                    <a:bodyPr/>
                    <a:lstStyle/>
                    <a:p>
                      <a:pPr algn="l"/>
                      <a:r>
                        <a:rPr lang="en-IN" dirty="0"/>
                        <a:t>Resolved	</a:t>
                      </a:r>
                    </a:p>
                  </a:txBody>
                  <a:tcPr/>
                </a:tc>
                <a:tc>
                  <a:txBody>
                    <a:bodyPr/>
                    <a:lstStyle/>
                    <a:p>
                      <a:pPr algn="l"/>
                      <a:r>
                        <a:rPr lang="en-US" dirty="0"/>
                        <a:t>Added iteration limit and pheromone decay condition</a:t>
                      </a:r>
                      <a:endParaRPr lang="en-IN" dirty="0"/>
                    </a:p>
                  </a:txBody>
                  <a:tcPr/>
                </a:tc>
                <a:extLst>
                  <a:ext uri="{0D108BD9-81ED-4DB2-BD59-A6C34878D82A}">
                    <a16:rowId xmlns:a16="http://schemas.microsoft.com/office/drawing/2014/main" val="2732295026"/>
                  </a:ext>
                </a:extLst>
              </a:tr>
              <a:tr h="370840">
                <a:tc>
                  <a:txBody>
                    <a:bodyPr/>
                    <a:lstStyle/>
                    <a:p>
                      <a:pPr algn="l"/>
                      <a:r>
                        <a:rPr lang="en-US" dirty="0"/>
                        <a:t>4</a:t>
                      </a:r>
                      <a:endParaRPr lang="en-IN" dirty="0"/>
                    </a:p>
                  </a:txBody>
                  <a:tcPr/>
                </a:tc>
                <a:tc>
                  <a:txBody>
                    <a:bodyPr/>
                    <a:lstStyle/>
                    <a:p>
                      <a:pPr algn="l"/>
                      <a:r>
                        <a:rPr lang="en-IN" dirty="0"/>
                        <a:t>Visualization	</a:t>
                      </a:r>
                    </a:p>
                  </a:txBody>
                  <a:tcPr/>
                </a:tc>
                <a:tc>
                  <a:txBody>
                    <a:bodyPr/>
                    <a:lstStyle/>
                    <a:p>
                      <a:pPr algn="l"/>
                      <a:r>
                        <a:rPr lang="en-US" dirty="0"/>
                        <a:t>Route lines not showing for certain algorithms</a:t>
                      </a:r>
                      <a:endParaRPr lang="en-IN" dirty="0"/>
                    </a:p>
                  </a:txBody>
                  <a:tcPr/>
                </a:tc>
                <a:tc>
                  <a:txBody>
                    <a:bodyPr/>
                    <a:lstStyle/>
                    <a:p>
                      <a:pPr algn="l"/>
                      <a:r>
                        <a:rPr lang="en-IN" dirty="0"/>
                        <a:t>Low	</a:t>
                      </a:r>
                    </a:p>
                  </a:txBody>
                  <a:tcPr/>
                </a:tc>
                <a:tc>
                  <a:txBody>
                    <a:bodyPr/>
                    <a:lstStyle/>
                    <a:p>
                      <a:pPr algn="l"/>
                      <a:r>
                        <a:rPr lang="en-IN" dirty="0"/>
                        <a:t>Resolved	</a:t>
                      </a:r>
                    </a:p>
                  </a:txBody>
                  <a:tcPr/>
                </a:tc>
                <a:tc>
                  <a:txBody>
                    <a:bodyPr/>
                    <a:lstStyle/>
                    <a:p>
                      <a:pPr algn="l"/>
                      <a:r>
                        <a:rPr lang="en-US" dirty="0"/>
                        <a:t>Adjusted map rendering logic and ensured all routes are drawn</a:t>
                      </a:r>
                      <a:endParaRPr lang="en-IN" dirty="0"/>
                    </a:p>
                  </a:txBody>
                  <a:tcPr/>
                </a:tc>
                <a:extLst>
                  <a:ext uri="{0D108BD9-81ED-4DB2-BD59-A6C34878D82A}">
                    <a16:rowId xmlns:a16="http://schemas.microsoft.com/office/drawing/2014/main" val="1266778987"/>
                  </a:ext>
                </a:extLst>
              </a:tr>
              <a:tr h="370840">
                <a:tc>
                  <a:txBody>
                    <a:bodyPr/>
                    <a:lstStyle/>
                    <a:p>
                      <a:pPr algn="l"/>
                      <a:r>
                        <a:rPr lang="en-US" dirty="0"/>
                        <a:t>5</a:t>
                      </a:r>
                      <a:endParaRPr lang="en-IN" dirty="0"/>
                    </a:p>
                  </a:txBody>
                  <a:tcPr/>
                </a:tc>
                <a:tc>
                  <a:txBody>
                    <a:bodyPr/>
                    <a:lstStyle/>
                    <a:p>
                      <a:pPr algn="l"/>
                      <a:r>
                        <a:rPr lang="en-IN" dirty="0"/>
                        <a:t>Performance Metrics Calculation</a:t>
                      </a:r>
                    </a:p>
                  </a:txBody>
                  <a:tcPr/>
                </a:tc>
                <a:tc>
                  <a:txBody>
                    <a:bodyPr/>
                    <a:lstStyle/>
                    <a:p>
                      <a:pPr algn="l"/>
                      <a:r>
                        <a:rPr lang="en-US" dirty="0"/>
                        <a:t>Fuel consumption miscalculated due to wrong unit conversion</a:t>
                      </a:r>
                      <a:endParaRPr lang="en-IN" dirty="0"/>
                    </a:p>
                  </a:txBody>
                  <a:tcPr/>
                </a:tc>
                <a:tc>
                  <a:txBody>
                    <a:bodyPr/>
                    <a:lstStyle/>
                    <a:p>
                      <a:pPr algn="l"/>
                      <a:r>
                        <a:rPr lang="en-US" dirty="0"/>
                        <a:t>Medium</a:t>
                      </a:r>
                      <a:endParaRPr lang="en-IN" dirty="0"/>
                    </a:p>
                  </a:txBody>
                  <a:tcPr/>
                </a:tc>
                <a:tc>
                  <a:txBody>
                    <a:bodyPr/>
                    <a:lstStyle/>
                    <a:p>
                      <a:pPr algn="l"/>
                      <a:r>
                        <a:rPr lang="en-IN" dirty="0"/>
                        <a:t>Resolved</a:t>
                      </a:r>
                    </a:p>
                  </a:txBody>
                  <a:tcPr/>
                </a:tc>
                <a:tc>
                  <a:txBody>
                    <a:bodyPr/>
                    <a:lstStyle/>
                    <a:p>
                      <a:pPr algn="l"/>
                      <a:r>
                        <a:rPr lang="en-US" dirty="0"/>
                        <a:t>Fixed the formula and added unit testing for verification</a:t>
                      </a:r>
                      <a:endParaRPr lang="en-IN" dirty="0"/>
                    </a:p>
                  </a:txBody>
                  <a:tcPr/>
                </a:tc>
                <a:extLst>
                  <a:ext uri="{0D108BD9-81ED-4DB2-BD59-A6C34878D82A}">
                    <a16:rowId xmlns:a16="http://schemas.microsoft.com/office/drawing/2014/main" val="1781507728"/>
                  </a:ext>
                </a:extLst>
              </a:tr>
            </a:tbl>
          </a:graphicData>
        </a:graphic>
      </p:graphicFrame>
    </p:spTree>
    <p:extLst>
      <p:ext uri="{BB962C8B-B14F-4D97-AF65-F5344CB8AC3E}">
        <p14:creationId xmlns:p14="http://schemas.microsoft.com/office/powerpoint/2010/main" val="105313954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5DE4D-76AB-2F35-A7F9-00EEF3EAEEA0}"/>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03D33E9B-D4D4-12BB-C97D-C5647BC61A51}"/>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
        <p:nvSpPr>
          <p:cNvPr id="142" name="Rectangle">
            <a:extLst>
              <a:ext uri="{FF2B5EF4-FFF2-40B4-BE49-F238E27FC236}">
                <a16:creationId xmlns:a16="http://schemas.microsoft.com/office/drawing/2014/main" id="{54FCF54D-63B2-7695-CE04-08DD293BABF1}"/>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METHODOLOGY</a:t>
            </a:r>
            <a:endParaRPr dirty="0"/>
          </a:p>
        </p:txBody>
      </p:sp>
      <p:sp>
        <p:nvSpPr>
          <p:cNvPr id="4" name="TextBox 3">
            <a:extLst>
              <a:ext uri="{FF2B5EF4-FFF2-40B4-BE49-F238E27FC236}">
                <a16:creationId xmlns:a16="http://schemas.microsoft.com/office/drawing/2014/main" id="{CC721FC6-3858-9DDE-4DF5-6002FCE43FFA}"/>
              </a:ext>
            </a:extLst>
          </p:cNvPr>
          <p:cNvSpPr txBox="1"/>
          <p:nvPr/>
        </p:nvSpPr>
        <p:spPr>
          <a:xfrm>
            <a:off x="847961" y="1483567"/>
            <a:ext cx="7661127" cy="78483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buNone/>
            </a:pPr>
            <a:r>
              <a:rPr lang="en-US" sz="1800" b="1" dirty="0"/>
              <a:t>Test Plan:</a:t>
            </a:r>
          </a:p>
          <a:p>
            <a:pPr algn="just"/>
            <a:r>
              <a:rPr lang="en-US" sz="1800" dirty="0"/>
              <a:t>A comprehensive testing approach was followed to ensure the accuracy and efficiency of the urban waste collection optimization system. Unit tests were conducted to validate distance matrix generation using the Haversine formula and correct garbage load assignments across all collection points. Integration tests verified the successful execution of routing algorithms like Dijkstra, ensuring optimal routes were generated while respecting vehicle capacity limits. Functional testing confirmed that the system correctly handled garbage priority levels and vehicle constraints during route planning. UI testing validated that route visualizations were rendered accurately on the map, with proper color coding based on priority. Metrics such as total distance, fuel consumption, and CO₂ emissions were also cross-verified through test cases to ensure correctness. All test cases were successfully passed, confirming system reliability and performance under different scenarios.</a:t>
            </a: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l" defTabSz="9144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69507162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E9F1-6842-8454-CA43-E2A53049873C}"/>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9D6D3B65-D4CD-961C-727E-C4CBC5A9301F}"/>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a:p>
        </p:txBody>
      </p:sp>
      <p:sp>
        <p:nvSpPr>
          <p:cNvPr id="142" name="Rectangle">
            <a:extLst>
              <a:ext uri="{FF2B5EF4-FFF2-40B4-BE49-F238E27FC236}">
                <a16:creationId xmlns:a16="http://schemas.microsoft.com/office/drawing/2014/main" id="{E4CBD5DD-FF71-FC95-2197-818EB994C7CF}"/>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RESULTS</a:t>
            </a:r>
            <a:endParaRPr dirty="0"/>
          </a:p>
        </p:txBody>
      </p:sp>
      <p:sp>
        <p:nvSpPr>
          <p:cNvPr id="9" name="TextBox 8">
            <a:extLst>
              <a:ext uri="{FF2B5EF4-FFF2-40B4-BE49-F238E27FC236}">
                <a16:creationId xmlns:a16="http://schemas.microsoft.com/office/drawing/2014/main" id="{A95814A7-1DE2-5F55-5A0D-7C0FF3AEA55F}"/>
              </a:ext>
            </a:extLst>
          </p:cNvPr>
          <p:cNvSpPr txBox="1"/>
          <p:nvPr/>
        </p:nvSpPr>
        <p:spPr>
          <a:xfrm>
            <a:off x="666202" y="5299788"/>
            <a:ext cx="3905798"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b="1" dirty="0"/>
              <a:t>Fig 1:</a:t>
            </a:r>
            <a:r>
              <a:rPr lang="en-US" dirty="0"/>
              <a:t> User interface showing the Garbage Collection Route Planner</a:t>
            </a: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8C754EE7-AAE0-65B3-5760-7A0EDBDF7A95}"/>
              </a:ext>
            </a:extLst>
          </p:cNvPr>
          <p:cNvSpPr txBox="1"/>
          <p:nvPr/>
        </p:nvSpPr>
        <p:spPr>
          <a:xfrm>
            <a:off x="4687696" y="5299788"/>
            <a:ext cx="3719880"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b="1" dirty="0"/>
              <a:t>Fig 2:</a:t>
            </a:r>
            <a:r>
              <a:rPr lang="en-US" dirty="0"/>
              <a:t> Dropdown list of available starting locations for route calculation.</a:t>
            </a: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2DB9470-8154-557A-5372-5113111742B8}"/>
              </a:ext>
            </a:extLst>
          </p:cNvPr>
          <p:cNvPicPr>
            <a:picLocks noChangeAspect="1"/>
          </p:cNvPicPr>
          <p:nvPr/>
        </p:nvPicPr>
        <p:blipFill>
          <a:blip r:embed="rId2"/>
          <a:stretch>
            <a:fillRect/>
          </a:stretch>
        </p:blipFill>
        <p:spPr>
          <a:xfrm>
            <a:off x="852120" y="1466591"/>
            <a:ext cx="3719880" cy="3417829"/>
          </a:xfrm>
          <a:prstGeom prst="rect">
            <a:avLst/>
          </a:prstGeom>
        </p:spPr>
      </p:pic>
      <p:pic>
        <p:nvPicPr>
          <p:cNvPr id="5" name="Picture 4">
            <a:extLst>
              <a:ext uri="{FF2B5EF4-FFF2-40B4-BE49-F238E27FC236}">
                <a16:creationId xmlns:a16="http://schemas.microsoft.com/office/drawing/2014/main" id="{440A7449-1079-6277-FEE7-6E8C84464D7E}"/>
              </a:ext>
            </a:extLst>
          </p:cNvPr>
          <p:cNvPicPr>
            <a:picLocks noChangeAspect="1"/>
          </p:cNvPicPr>
          <p:nvPr/>
        </p:nvPicPr>
        <p:blipFill>
          <a:blip r:embed="rId3"/>
          <a:stretch>
            <a:fillRect/>
          </a:stretch>
        </p:blipFill>
        <p:spPr>
          <a:xfrm>
            <a:off x="4846320" y="1466590"/>
            <a:ext cx="3445560" cy="3494029"/>
          </a:xfrm>
          <a:prstGeom prst="rect">
            <a:avLst/>
          </a:prstGeom>
        </p:spPr>
      </p:pic>
    </p:spTree>
    <p:extLst>
      <p:ext uri="{BB962C8B-B14F-4D97-AF65-F5344CB8AC3E}">
        <p14:creationId xmlns:p14="http://schemas.microsoft.com/office/powerpoint/2010/main" val="200105856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1376-5A68-BB7A-CC13-859AFC1C109B}"/>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B8253572-4AD7-2C30-6B1B-21975BBEECAC}"/>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sp>
        <p:nvSpPr>
          <p:cNvPr id="142" name="Rectangle">
            <a:extLst>
              <a:ext uri="{FF2B5EF4-FFF2-40B4-BE49-F238E27FC236}">
                <a16:creationId xmlns:a16="http://schemas.microsoft.com/office/drawing/2014/main" id="{AB27120C-3EAB-192B-0A14-17378EA29AB2}"/>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RESULTS</a:t>
            </a:r>
            <a:endParaRPr dirty="0"/>
          </a:p>
        </p:txBody>
      </p:sp>
      <p:sp>
        <p:nvSpPr>
          <p:cNvPr id="9" name="TextBox 8">
            <a:extLst>
              <a:ext uri="{FF2B5EF4-FFF2-40B4-BE49-F238E27FC236}">
                <a16:creationId xmlns:a16="http://schemas.microsoft.com/office/drawing/2014/main" id="{175F501A-36FC-894D-3ABB-59C119A83D79}"/>
              </a:ext>
            </a:extLst>
          </p:cNvPr>
          <p:cNvSpPr txBox="1"/>
          <p:nvPr/>
        </p:nvSpPr>
        <p:spPr>
          <a:xfrm>
            <a:off x="2369639" y="5171452"/>
            <a:ext cx="470952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b="1" dirty="0"/>
              <a:t>Fig 3:</a:t>
            </a:r>
            <a:r>
              <a:rPr lang="en-US" dirty="0"/>
              <a:t> Tabular output of Nearest Neighbor Algorithm results including path, fuel, CO₂, and complexity.</a:t>
            </a: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FA7FC51-F3A5-A5FC-2FAF-EF42334D5A98}"/>
              </a:ext>
            </a:extLst>
          </p:cNvPr>
          <p:cNvPicPr>
            <a:picLocks noChangeAspect="1"/>
          </p:cNvPicPr>
          <p:nvPr/>
        </p:nvPicPr>
        <p:blipFill>
          <a:blip r:embed="rId2"/>
          <a:stretch>
            <a:fillRect/>
          </a:stretch>
        </p:blipFill>
        <p:spPr>
          <a:xfrm>
            <a:off x="1181100" y="1424939"/>
            <a:ext cx="6972300" cy="3528061"/>
          </a:xfrm>
          <a:prstGeom prst="rect">
            <a:avLst/>
          </a:prstGeom>
        </p:spPr>
      </p:pic>
    </p:spTree>
    <p:extLst>
      <p:ext uri="{BB962C8B-B14F-4D97-AF65-F5344CB8AC3E}">
        <p14:creationId xmlns:p14="http://schemas.microsoft.com/office/powerpoint/2010/main" val="242243758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64603-523C-2F74-5372-02958ED43FF6}"/>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9C26F09E-E5BA-94CB-97E2-705E4AE4E9E4}"/>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142" name="Rectangle">
            <a:extLst>
              <a:ext uri="{FF2B5EF4-FFF2-40B4-BE49-F238E27FC236}">
                <a16:creationId xmlns:a16="http://schemas.microsoft.com/office/drawing/2014/main" id="{E3F11E74-9D37-F04D-F91E-D2C426C353FE}"/>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RESULTS</a:t>
            </a:r>
            <a:endParaRPr dirty="0"/>
          </a:p>
        </p:txBody>
      </p:sp>
      <p:pic>
        <p:nvPicPr>
          <p:cNvPr id="4" name="Picture 3">
            <a:extLst>
              <a:ext uri="{FF2B5EF4-FFF2-40B4-BE49-F238E27FC236}">
                <a16:creationId xmlns:a16="http://schemas.microsoft.com/office/drawing/2014/main" id="{628013F8-F1C5-E78A-0133-39B040547C16}"/>
              </a:ext>
            </a:extLst>
          </p:cNvPr>
          <p:cNvPicPr>
            <a:picLocks noChangeAspect="1"/>
          </p:cNvPicPr>
          <p:nvPr/>
        </p:nvPicPr>
        <p:blipFill>
          <a:blip r:embed="rId2"/>
          <a:stretch>
            <a:fillRect/>
          </a:stretch>
        </p:blipFill>
        <p:spPr>
          <a:xfrm>
            <a:off x="899160" y="1255533"/>
            <a:ext cx="3382638" cy="4346934"/>
          </a:xfrm>
          <a:prstGeom prst="rect">
            <a:avLst/>
          </a:prstGeom>
        </p:spPr>
      </p:pic>
      <p:pic>
        <p:nvPicPr>
          <p:cNvPr id="7" name="Picture 6">
            <a:extLst>
              <a:ext uri="{FF2B5EF4-FFF2-40B4-BE49-F238E27FC236}">
                <a16:creationId xmlns:a16="http://schemas.microsoft.com/office/drawing/2014/main" id="{84D94511-E26F-7ADE-30E1-2CD57661F4A1}"/>
              </a:ext>
            </a:extLst>
          </p:cNvPr>
          <p:cNvPicPr>
            <a:picLocks noChangeAspect="1"/>
          </p:cNvPicPr>
          <p:nvPr/>
        </p:nvPicPr>
        <p:blipFill>
          <a:blip r:embed="rId3"/>
          <a:stretch>
            <a:fillRect/>
          </a:stretch>
        </p:blipFill>
        <p:spPr>
          <a:xfrm>
            <a:off x="4635676" y="1255533"/>
            <a:ext cx="3771900" cy="4336426"/>
          </a:xfrm>
          <a:prstGeom prst="rect">
            <a:avLst/>
          </a:prstGeom>
        </p:spPr>
      </p:pic>
      <p:sp>
        <p:nvSpPr>
          <p:cNvPr id="10" name="TextBox 9">
            <a:extLst>
              <a:ext uri="{FF2B5EF4-FFF2-40B4-BE49-F238E27FC236}">
                <a16:creationId xmlns:a16="http://schemas.microsoft.com/office/drawing/2014/main" id="{66322819-FD9C-806A-E9DD-BA3A9CC5CC6F}"/>
              </a:ext>
            </a:extLst>
          </p:cNvPr>
          <p:cNvSpPr txBox="1"/>
          <p:nvPr/>
        </p:nvSpPr>
        <p:spPr>
          <a:xfrm>
            <a:off x="563880" y="5602467"/>
            <a:ext cx="416052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Fig 4:</a:t>
            </a:r>
            <a:r>
              <a:rPr lang="en-US" dirty="0"/>
              <a:t> Route map showing Nearest Neighbor Algorithm's garbage collection route across Bengaluru.</a:t>
            </a:r>
            <a:endParaRPr lang="en-IN" dirty="0"/>
          </a:p>
        </p:txBody>
      </p:sp>
      <p:sp>
        <p:nvSpPr>
          <p:cNvPr id="13" name="TextBox 12">
            <a:extLst>
              <a:ext uri="{FF2B5EF4-FFF2-40B4-BE49-F238E27FC236}">
                <a16:creationId xmlns:a16="http://schemas.microsoft.com/office/drawing/2014/main" id="{60015D60-3A6C-D17E-2CA4-D36DCC0949F7}"/>
              </a:ext>
            </a:extLst>
          </p:cNvPr>
          <p:cNvSpPr txBox="1"/>
          <p:nvPr/>
        </p:nvSpPr>
        <p:spPr>
          <a:xfrm>
            <a:off x="4617078" y="5602467"/>
            <a:ext cx="4572000"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Fig 5:</a:t>
            </a:r>
            <a:r>
              <a:rPr lang="en-US" dirty="0"/>
              <a:t> Combined route map comparing all algorithms for garbage collection optimization.</a:t>
            </a:r>
            <a:endParaRPr lang="en-IN" dirty="0"/>
          </a:p>
        </p:txBody>
      </p:sp>
    </p:spTree>
    <p:extLst>
      <p:ext uri="{BB962C8B-B14F-4D97-AF65-F5344CB8AC3E}">
        <p14:creationId xmlns:p14="http://schemas.microsoft.com/office/powerpoint/2010/main" val="394205498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7D869-CED9-6B25-9436-8E66D6A83C12}"/>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F7684C15-55A0-DF0D-5CA2-6197029A86BE}"/>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a:p>
        </p:txBody>
      </p:sp>
      <p:sp>
        <p:nvSpPr>
          <p:cNvPr id="142" name="Rectangle">
            <a:extLst>
              <a:ext uri="{FF2B5EF4-FFF2-40B4-BE49-F238E27FC236}">
                <a16:creationId xmlns:a16="http://schemas.microsoft.com/office/drawing/2014/main" id="{04D81389-EB0B-9518-61B8-1C643FE4806B}"/>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RESULTS</a:t>
            </a:r>
            <a:endParaRPr dirty="0"/>
          </a:p>
        </p:txBody>
      </p:sp>
      <p:sp>
        <p:nvSpPr>
          <p:cNvPr id="9" name="TextBox 8">
            <a:extLst>
              <a:ext uri="{FF2B5EF4-FFF2-40B4-BE49-F238E27FC236}">
                <a16:creationId xmlns:a16="http://schemas.microsoft.com/office/drawing/2014/main" id="{857A9195-3223-E7AC-FAC3-947CB250A7E4}"/>
              </a:ext>
            </a:extLst>
          </p:cNvPr>
          <p:cNvSpPr txBox="1"/>
          <p:nvPr/>
        </p:nvSpPr>
        <p:spPr>
          <a:xfrm>
            <a:off x="1211580" y="5100889"/>
            <a:ext cx="6103620"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US" b="1" dirty="0"/>
              <a:t>Fig 6:</a:t>
            </a:r>
            <a:r>
              <a:rPr lang="en-US" dirty="0"/>
              <a:t> Best result summary from Johnson’s Algorithm highlighting performance and reduced metrics.</a:t>
            </a: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B58375C-387E-A59E-B496-5A4145346633}"/>
              </a:ext>
            </a:extLst>
          </p:cNvPr>
          <p:cNvPicPr>
            <a:picLocks noChangeAspect="1"/>
          </p:cNvPicPr>
          <p:nvPr/>
        </p:nvPicPr>
        <p:blipFill>
          <a:blip r:embed="rId2"/>
          <a:stretch>
            <a:fillRect/>
          </a:stretch>
        </p:blipFill>
        <p:spPr>
          <a:xfrm>
            <a:off x="861060" y="1875641"/>
            <a:ext cx="6858000" cy="3106718"/>
          </a:xfrm>
          <a:prstGeom prst="rect">
            <a:avLst/>
          </a:prstGeom>
        </p:spPr>
      </p:pic>
    </p:spTree>
    <p:extLst>
      <p:ext uri="{BB962C8B-B14F-4D97-AF65-F5344CB8AC3E}">
        <p14:creationId xmlns:p14="http://schemas.microsoft.com/office/powerpoint/2010/main" val="212779912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BCC00-A95C-99B7-7383-4C1E626FF268}"/>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78063F5D-6082-4C5A-DE77-02D6AC4E2E83}"/>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142" name="Rectangle">
            <a:extLst>
              <a:ext uri="{FF2B5EF4-FFF2-40B4-BE49-F238E27FC236}">
                <a16:creationId xmlns:a16="http://schemas.microsoft.com/office/drawing/2014/main" id="{A67032DB-EE0B-708F-829E-797DC710725F}"/>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RESULTS</a:t>
            </a:r>
            <a:endParaRPr dirty="0"/>
          </a:p>
        </p:txBody>
      </p:sp>
      <p:sp>
        <p:nvSpPr>
          <p:cNvPr id="4" name="TextBox 3">
            <a:extLst>
              <a:ext uri="{FF2B5EF4-FFF2-40B4-BE49-F238E27FC236}">
                <a16:creationId xmlns:a16="http://schemas.microsoft.com/office/drawing/2014/main" id="{FC5DBE46-2E3A-BFF1-18EA-3DD884A2FAF7}"/>
              </a:ext>
            </a:extLst>
          </p:cNvPr>
          <p:cNvSpPr txBox="1"/>
          <p:nvPr/>
        </p:nvSpPr>
        <p:spPr>
          <a:xfrm>
            <a:off x="847961" y="1483567"/>
            <a:ext cx="7661127" cy="52937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just" defTabSz="914400" rtl="0" fontAlgn="auto" latinLnBrk="0" hangingPunct="0">
              <a:lnSpc>
                <a:spcPct val="100000"/>
              </a:lnSpc>
              <a:spcBef>
                <a:spcPts val="0"/>
              </a:spcBef>
              <a:spcAft>
                <a:spcPts val="0"/>
              </a:spcAft>
              <a:buClrTx/>
              <a:buSzTx/>
              <a:buFontTx/>
              <a:buNone/>
              <a:tabLst/>
            </a:pPr>
            <a:r>
              <a:rPr lang="en-IN" sz="1800" b="1" dirty="0"/>
              <a:t>Sprint Planning:</a:t>
            </a:r>
          </a:p>
          <a:p>
            <a:pPr marL="0" marR="0" indent="0" algn="just" defTabSz="914400" rtl="0" fontAlgn="auto" latinLnBrk="0" hangingPunct="0">
              <a:lnSpc>
                <a:spcPct val="100000"/>
              </a:lnSpc>
              <a:spcBef>
                <a:spcPts val="0"/>
              </a:spcBef>
              <a:spcAft>
                <a:spcPts val="0"/>
              </a:spcAft>
              <a:buClrTx/>
              <a:buSzTx/>
              <a:buFontTx/>
              <a:buNone/>
              <a:tabLst/>
            </a:pPr>
            <a:r>
              <a:rPr lang="en-IN" sz="1800" b="1" dirty="0"/>
              <a:t>Sprint 1: </a:t>
            </a:r>
            <a:r>
              <a:rPr lang="en-IN" sz="1800" dirty="0"/>
              <a:t>Location data collection using OpenStreetMap, Distance matrix calculation using Haversine formula, Garbage load simulation</a:t>
            </a:r>
          </a:p>
          <a:p>
            <a:pPr marL="0" marR="0" indent="0" algn="just" defTabSz="914400" rtl="0" fontAlgn="auto" latinLnBrk="0" hangingPunct="0">
              <a:lnSpc>
                <a:spcPct val="100000"/>
              </a:lnSpc>
              <a:spcBef>
                <a:spcPts val="0"/>
              </a:spcBef>
              <a:spcAft>
                <a:spcPts val="0"/>
              </a:spcAft>
              <a:buClrTx/>
              <a:buSzTx/>
              <a:buFontTx/>
              <a:buNone/>
              <a:tabLst/>
            </a:pPr>
            <a:r>
              <a:rPr lang="en-IN" sz="1800" b="1" dirty="0"/>
              <a:t>Sprint 2: </a:t>
            </a:r>
            <a:r>
              <a:rPr lang="en-IN" sz="1800" dirty="0"/>
              <a:t>Priority classification, Implementation of routing algorithms (Dijkstra, Bellman-Ford, Floyd-Warshall, Johnson’s, Nearest </a:t>
            </a:r>
            <a:r>
              <a:rPr lang="en-IN" sz="1800" dirty="0" err="1"/>
              <a:t>Neighbor</a:t>
            </a:r>
            <a:r>
              <a:rPr lang="en-IN" sz="1800" dirty="0"/>
              <a:t>, ACO)</a:t>
            </a:r>
          </a:p>
          <a:p>
            <a:pPr marL="0" marR="0" indent="0" algn="just" defTabSz="914400" rtl="0" fontAlgn="auto" latinLnBrk="0" hangingPunct="0">
              <a:lnSpc>
                <a:spcPct val="100000"/>
              </a:lnSpc>
              <a:spcBef>
                <a:spcPts val="0"/>
              </a:spcBef>
              <a:spcAft>
                <a:spcPts val="0"/>
              </a:spcAft>
              <a:buClrTx/>
              <a:buSzTx/>
              <a:buFontTx/>
              <a:buNone/>
              <a:tabLst/>
            </a:pPr>
            <a:r>
              <a:rPr lang="en-IN" sz="1800" b="1" dirty="0"/>
              <a:t>Sprint 3: </a:t>
            </a:r>
            <a:r>
              <a:rPr lang="en-IN" sz="1800" dirty="0"/>
              <a:t>Algorithm evaluation (distance, fuel, CO₂, execution time), Route visualization with color-coded priorities, Final result comparison</a:t>
            </a:r>
          </a:p>
          <a:p>
            <a:pPr marL="0" marR="0" indent="0" algn="just" defTabSz="914400" rtl="0" fontAlgn="auto" latinLnBrk="0" hangingPunct="0">
              <a:lnSpc>
                <a:spcPct val="100000"/>
              </a:lnSpc>
              <a:spcBef>
                <a:spcPts val="0"/>
              </a:spcBef>
              <a:spcAft>
                <a:spcPts val="0"/>
              </a:spcAft>
              <a:buClrTx/>
              <a:buSzTx/>
              <a:buFontTx/>
              <a:buNone/>
              <a:tabLst/>
            </a:pPr>
            <a:endParaRPr lang="en-IN" sz="1800" dirty="0"/>
          </a:p>
          <a:p>
            <a:pPr marL="0" marR="0" indent="0" algn="just" defTabSz="914400" rtl="0" fontAlgn="auto" latinLnBrk="0" hangingPunct="0">
              <a:lnSpc>
                <a:spcPct val="100000"/>
              </a:lnSpc>
              <a:spcBef>
                <a:spcPts val="0"/>
              </a:spcBef>
              <a:spcAft>
                <a:spcPts val="0"/>
              </a:spcAft>
              <a:buClrTx/>
              <a:buSzTx/>
              <a:buFontTx/>
              <a:buNone/>
              <a:tabLst/>
            </a:pPr>
            <a:r>
              <a:rPr lang="en-IN" sz="1800" b="1" dirty="0"/>
              <a:t>Definition of Done:</a:t>
            </a:r>
          </a:p>
          <a:p>
            <a:pPr marL="285750" marR="0" indent="-285750" algn="just" defTabSz="914400" rtl="0" fontAlgn="auto" latinLnBrk="0" hangingPunct="0">
              <a:lnSpc>
                <a:spcPct val="100000"/>
              </a:lnSpc>
              <a:spcBef>
                <a:spcPts val="0"/>
              </a:spcBef>
              <a:spcAft>
                <a:spcPts val="0"/>
              </a:spcAft>
              <a:buClrTx/>
              <a:buSzTx/>
              <a:buFont typeface="Arial" panose="020B0604020202020204" pitchFamily="34" charset="0"/>
              <a:buChar char="•"/>
              <a:tabLst/>
            </a:pPr>
            <a:r>
              <a:rPr lang="en-IN" sz="1800" dirty="0"/>
              <a:t>Location Data Extraction &amp; Load Simulation</a:t>
            </a:r>
          </a:p>
          <a:p>
            <a:pPr marL="285750" marR="0" indent="-285750" algn="just" defTabSz="914400" rtl="0" fontAlgn="auto" latinLnBrk="0" hangingPunct="0">
              <a:lnSpc>
                <a:spcPct val="100000"/>
              </a:lnSpc>
              <a:spcBef>
                <a:spcPts val="0"/>
              </a:spcBef>
              <a:spcAft>
                <a:spcPts val="0"/>
              </a:spcAft>
              <a:buClrTx/>
              <a:buSzTx/>
              <a:buFont typeface="Arial" panose="020B0604020202020204" pitchFamily="34" charset="0"/>
              <a:buChar char="•"/>
              <a:tabLst/>
            </a:pPr>
            <a:r>
              <a:rPr lang="en-IN" sz="1800" dirty="0"/>
              <a:t>Garbage Priority Classification</a:t>
            </a:r>
          </a:p>
          <a:p>
            <a:pPr marL="285750" marR="0" indent="-285750" algn="just" defTabSz="914400" rtl="0" fontAlgn="auto" latinLnBrk="0" hangingPunct="0">
              <a:lnSpc>
                <a:spcPct val="100000"/>
              </a:lnSpc>
              <a:spcBef>
                <a:spcPts val="0"/>
              </a:spcBef>
              <a:spcAft>
                <a:spcPts val="0"/>
              </a:spcAft>
              <a:buClrTx/>
              <a:buSzTx/>
              <a:buFont typeface="Arial" panose="020B0604020202020204" pitchFamily="34" charset="0"/>
              <a:buChar char="•"/>
              <a:tabLst/>
            </a:pPr>
            <a:r>
              <a:rPr lang="en-IN" sz="1800" dirty="0"/>
              <a:t>Distance Matrix Generation</a:t>
            </a:r>
          </a:p>
          <a:p>
            <a:pPr marL="285750" marR="0" indent="-285750" algn="just" defTabSz="914400" rtl="0" fontAlgn="auto" latinLnBrk="0" hangingPunct="0">
              <a:lnSpc>
                <a:spcPct val="100000"/>
              </a:lnSpc>
              <a:spcBef>
                <a:spcPts val="0"/>
              </a:spcBef>
              <a:spcAft>
                <a:spcPts val="0"/>
              </a:spcAft>
              <a:buClrTx/>
              <a:buSzTx/>
              <a:buFont typeface="Arial" panose="020B0604020202020204" pitchFamily="34" charset="0"/>
              <a:buChar char="•"/>
              <a:tabLst/>
            </a:pPr>
            <a:r>
              <a:rPr lang="en-IN" sz="1800" dirty="0"/>
              <a:t>Route Optimization via Multiple Algorithms</a:t>
            </a:r>
          </a:p>
          <a:p>
            <a:pPr marL="285750" marR="0" indent="-285750" algn="just" defTabSz="914400" rtl="0" fontAlgn="auto" latinLnBrk="0" hangingPunct="0">
              <a:lnSpc>
                <a:spcPct val="100000"/>
              </a:lnSpc>
              <a:spcBef>
                <a:spcPts val="0"/>
              </a:spcBef>
              <a:spcAft>
                <a:spcPts val="0"/>
              </a:spcAft>
              <a:buClrTx/>
              <a:buSzTx/>
              <a:buFont typeface="Arial" panose="020B0604020202020204" pitchFamily="34" charset="0"/>
              <a:buChar char="•"/>
              <a:tabLst/>
            </a:pPr>
            <a:r>
              <a:rPr lang="en-IN" sz="1800" dirty="0"/>
              <a:t>Performance Evaluation (Distance, Fuel, Emission, Time)</a:t>
            </a:r>
          </a:p>
          <a:p>
            <a:pPr marL="285750" marR="0" indent="-285750" algn="just" defTabSz="914400" rtl="0" fontAlgn="auto" latinLnBrk="0" hangingPunct="0">
              <a:lnSpc>
                <a:spcPct val="100000"/>
              </a:lnSpc>
              <a:spcBef>
                <a:spcPts val="0"/>
              </a:spcBef>
              <a:spcAft>
                <a:spcPts val="0"/>
              </a:spcAft>
              <a:buClrTx/>
              <a:buSzTx/>
              <a:buFont typeface="Arial" panose="020B0604020202020204" pitchFamily="34" charset="0"/>
              <a:buChar char="•"/>
              <a:tabLst/>
            </a:pPr>
            <a:r>
              <a:rPr lang="en-IN" sz="1800" dirty="0"/>
              <a:t>Route Visualization &amp; Final Comparative Analysis</a:t>
            </a:r>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pPr marL="0" marR="0" indent="0" algn="just" defTabSz="914400" rtl="0" fontAlgn="auto" latinLnBrk="0" hangingPunct="0">
              <a:lnSpc>
                <a:spcPct val="100000"/>
              </a:lnSpc>
              <a:spcBef>
                <a:spcPts val="0"/>
              </a:spcBef>
              <a:spcAft>
                <a:spcPts val="0"/>
              </a:spcAft>
              <a:buClrTx/>
              <a:buSzTx/>
              <a:buFontTx/>
              <a:buNone/>
              <a:tabLst/>
            </a:pPr>
            <a:endParaRPr lang="en-IN" sz="1800" b="1" dirty="0"/>
          </a:p>
          <a:p>
            <a:endParaRPr lang="en-IN" sz="1800" b="1" dirty="0"/>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63252146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D07E-8071-3958-93E2-9CC116C0FC4A}"/>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9730FBBD-E617-D107-B8CC-FAA0E9EE6D99}"/>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19</a:t>
            </a:fld>
            <a:endParaRPr/>
          </a:p>
        </p:txBody>
      </p:sp>
      <p:sp>
        <p:nvSpPr>
          <p:cNvPr id="142" name="Rectangle">
            <a:extLst>
              <a:ext uri="{FF2B5EF4-FFF2-40B4-BE49-F238E27FC236}">
                <a16:creationId xmlns:a16="http://schemas.microsoft.com/office/drawing/2014/main" id="{95506B04-F4C6-2D5D-6DC7-3560AE45ED16}"/>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lgn="ctr">
              <a:defRPr sz="2800">
                <a:latin typeface="+mn-lt"/>
                <a:ea typeface="+mn-ea"/>
                <a:cs typeface="+mn-cs"/>
                <a:sym typeface="Arial"/>
              </a:defRPr>
            </a:pPr>
            <a:r>
              <a:rPr lang="en-US" dirty="0"/>
              <a:t>CONCLUSION &amp; FUTURE SCOPE</a:t>
            </a:r>
            <a:endParaRPr dirty="0"/>
          </a:p>
        </p:txBody>
      </p:sp>
      <p:sp>
        <p:nvSpPr>
          <p:cNvPr id="4" name="TextBox 3">
            <a:extLst>
              <a:ext uri="{FF2B5EF4-FFF2-40B4-BE49-F238E27FC236}">
                <a16:creationId xmlns:a16="http://schemas.microsoft.com/office/drawing/2014/main" id="{E25B92FC-26AF-A370-6FFB-70B41756A8D4}"/>
              </a:ext>
            </a:extLst>
          </p:cNvPr>
          <p:cNvSpPr txBox="1"/>
          <p:nvPr/>
        </p:nvSpPr>
        <p:spPr>
          <a:xfrm>
            <a:off x="893836" y="2015412"/>
            <a:ext cx="7661127" cy="3970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buNone/>
            </a:pPr>
            <a:r>
              <a:rPr lang="en-US" sz="1800" dirty="0"/>
              <a:t>The project successfully demonstrates how intelligent routing algorithms can significantly improve the efficiency of urban waste collection. By integrating geospatial data, garbage priority levels, and vehicle constraints, the system generates optimized routes that reduce total distance traveled, fuel consumption, and CO₂ emissions. Comparative analysis across six algorithms provided insights into the trade-offs between performance and computation time, helping identify the most suitable method for real-world deployment.</a:t>
            </a:r>
          </a:p>
          <a:p>
            <a:pPr>
              <a:buNone/>
            </a:pPr>
            <a:r>
              <a:rPr lang="en-US" sz="1800" b="1" dirty="0"/>
              <a:t>Future Scope:</a:t>
            </a:r>
            <a:endParaRPr lang="en-US" sz="1800" dirty="0"/>
          </a:p>
          <a:p>
            <a:pPr>
              <a:buFont typeface="Arial" panose="020B0604020202020204" pitchFamily="34" charset="0"/>
              <a:buChar char="•"/>
            </a:pPr>
            <a:r>
              <a:rPr lang="en-US" sz="1800" dirty="0"/>
              <a:t>Integration of </a:t>
            </a:r>
            <a:r>
              <a:rPr lang="en-US" sz="1800" b="1" dirty="0"/>
              <a:t>real-time IoT sensor data</a:t>
            </a:r>
            <a:r>
              <a:rPr lang="en-US" sz="1800" dirty="0"/>
              <a:t> to monitor bin levels dynamically</a:t>
            </a:r>
          </a:p>
          <a:p>
            <a:pPr>
              <a:buFont typeface="Arial" panose="020B0604020202020204" pitchFamily="34" charset="0"/>
              <a:buChar char="•"/>
            </a:pPr>
            <a:r>
              <a:rPr lang="en-US" sz="1800" dirty="0"/>
              <a:t>Use of </a:t>
            </a:r>
            <a:r>
              <a:rPr lang="en-US" sz="1800" b="1" dirty="0"/>
              <a:t>live traffic data</a:t>
            </a:r>
            <a:r>
              <a:rPr lang="en-US" sz="1800" dirty="0"/>
              <a:t> to further enhance route optimization in congested zones</a:t>
            </a:r>
          </a:p>
          <a:p>
            <a:pPr>
              <a:buFont typeface="Arial" panose="020B0604020202020204" pitchFamily="34" charset="0"/>
              <a:buChar char="•"/>
            </a:pPr>
            <a:r>
              <a:rPr lang="en-US" sz="1800" dirty="0"/>
              <a:t>Incorporation of </a:t>
            </a:r>
            <a:r>
              <a:rPr lang="en-US" sz="1800" b="1" dirty="0"/>
              <a:t>Machine Learning models</a:t>
            </a:r>
            <a:r>
              <a:rPr lang="en-US" sz="1800" dirty="0"/>
              <a:t> to predict waste generation patterns</a:t>
            </a:r>
          </a:p>
          <a:p>
            <a:pPr>
              <a:buFont typeface="Arial" panose="020B0604020202020204" pitchFamily="34" charset="0"/>
              <a:buChar char="•"/>
            </a:pPr>
            <a:r>
              <a:rPr lang="en-US" sz="1800" dirty="0"/>
              <a:t>Deployment on a </a:t>
            </a:r>
            <a:r>
              <a:rPr lang="en-US" sz="1800" b="1" dirty="0"/>
              <a:t>cloud-based platform</a:t>
            </a:r>
            <a:r>
              <a:rPr lang="en-US" sz="1800" dirty="0"/>
              <a:t> for scalability and centralized access</a:t>
            </a:r>
          </a:p>
          <a:p>
            <a:pPr>
              <a:buFont typeface="Arial" panose="020B0604020202020204" pitchFamily="34" charset="0"/>
              <a:buChar char="•"/>
            </a:pPr>
            <a:r>
              <a:rPr lang="en-US" sz="1800" dirty="0"/>
              <a:t>Collaboration with </a:t>
            </a:r>
            <a:r>
              <a:rPr lang="en-US" sz="1800" b="1" dirty="0"/>
              <a:t>municipal bodies</a:t>
            </a:r>
            <a:r>
              <a:rPr lang="en-US" sz="1800" dirty="0"/>
              <a:t> for smart city implementation</a:t>
            </a:r>
          </a:p>
          <a:p>
            <a:pPr marL="0" marR="0" indent="0" algn="just" defTabSz="9144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11528401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2809149"/>
            <a:ext cx="8229600" cy="1508126"/>
          </a:xfrm>
        </p:spPr>
        <p:txBody>
          <a:bodyPr/>
          <a:lstStyle/>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721A96B-8B05-BD49-B6F0-8D4DA60AFD49}"/>
              </a:ext>
            </a:extLst>
          </p:cNvPr>
          <p:cNvSpPr>
            <a:spLocks noGrp="1"/>
          </p:cNvSpPr>
          <p:nvPr>
            <p:ph type="sldNum" sz="quarter" idx="2"/>
          </p:nvPr>
        </p:nvSpPr>
        <p:spPr/>
        <p:txBody>
          <a:bodyPr/>
          <a:lstStyle/>
          <a:p>
            <a:fld id="{86CB4B4D-7CA3-9044-876B-883B54F8677D}" type="slidenum">
              <a:rPr lang="en-IN" smtClean="0"/>
              <a:t>20</a:t>
            </a:fld>
            <a:endParaRPr lang="en-IN"/>
          </a:p>
        </p:txBody>
      </p:sp>
    </p:spTree>
    <p:extLst>
      <p:ext uri="{BB962C8B-B14F-4D97-AF65-F5344CB8AC3E}">
        <p14:creationId xmlns:p14="http://schemas.microsoft.com/office/powerpoint/2010/main" val="2290172774"/>
      </p:ext>
    </p:extLst>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8019</TotalTime>
  <Words>1472</Words>
  <Application>Microsoft Office PowerPoint</Application>
  <PresentationFormat>On-screen Show (4:3)</PresentationFormat>
  <Paragraphs>239</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11_Default Design</vt:lpstr>
      <vt:lpstr>Urban Waste Collection Optimization Using Path Finding Algorithms</vt:lpstr>
      <vt:lpstr>INTRODUCTION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KOUSHIK REDDY</cp:lastModifiedBy>
  <cp:revision>153</cp:revision>
  <dcterms:modified xsi:type="dcterms:W3CDTF">2025-05-13T18:36:09Z</dcterms:modified>
</cp:coreProperties>
</file>